
<file path=[Content_Types].xml><?xml version="1.0" encoding="utf-8"?>
<Types xmlns="http://schemas.openxmlformats.org/package/2006/content-types">
  <Default Extension="xml" ContentType="application/xml"/>
  <Default Extension="jpeg" ContentType="image/jpeg"/>
  <Default Extension="jpg" ContentType="image/jpeg"/>
  <Default Extension="rels" ContentType="application/vnd.openxmlformats-package.relationships+xml"/>
  <Default Extension="tif" ContentType="image/tif"/>
  <Default Extension="wdp" ContentType="image/vnd.ms-photo"/>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8" r:id="rId3"/>
    <p:sldMasterId id="2147483691" r:id="rId4"/>
  </p:sldMasterIdLst>
  <p:notesMasterIdLst>
    <p:notesMasterId r:id="rId19"/>
  </p:notesMasterIdLst>
  <p:sldIdLst>
    <p:sldId id="256" r:id="rId5"/>
    <p:sldId id="297" r:id="rId6"/>
    <p:sldId id="298" r:id="rId7"/>
    <p:sldId id="299" r:id="rId8"/>
    <p:sldId id="300" r:id="rId9"/>
    <p:sldId id="301" r:id="rId10"/>
    <p:sldId id="302" r:id="rId11"/>
    <p:sldId id="303" r:id="rId12"/>
    <p:sldId id="304" r:id="rId13"/>
    <p:sldId id="305" r:id="rId14"/>
    <p:sldId id="288" r:id="rId15"/>
    <p:sldId id="289" r:id="rId16"/>
    <p:sldId id="290" r:id="rId17"/>
    <p:sldId id="28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CF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17" autoAdjust="0"/>
    <p:restoredTop sz="80151" autoAdjust="0"/>
  </p:normalViewPr>
  <p:slideViewPr>
    <p:cSldViewPr>
      <p:cViewPr varScale="1">
        <p:scale>
          <a:sx n="100" d="100"/>
          <a:sy n="100" d="100"/>
        </p:scale>
        <p:origin x="1904" y="168"/>
      </p:cViewPr>
      <p:guideLst>
        <p:guide orient="horz" pos="2112"/>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9528"/>
    </p:cViewPr>
  </p:sorterViewPr>
  <p:notesViewPr>
    <p:cSldViewPr>
      <p:cViewPr varScale="1">
        <p:scale>
          <a:sx n="87" d="100"/>
          <a:sy n="87" d="100"/>
        </p:scale>
        <p:origin x="-190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F20CAB-D507-4F94-9D5A-38130C477541}" type="datetimeFigureOut">
              <a:rPr lang="en-US" smtClean="0"/>
              <a:t>6/21/17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1D1BCD-11F3-4B4E-BE38-8D5799EE0B19}" type="slidenum">
              <a:rPr lang="en-US" smtClean="0"/>
              <a:t>‹#›</a:t>
            </a:fld>
            <a:endParaRPr lang="en-US"/>
          </a:p>
        </p:txBody>
      </p:sp>
    </p:spTree>
    <p:extLst>
      <p:ext uri="{BB962C8B-B14F-4D97-AF65-F5344CB8AC3E}">
        <p14:creationId xmlns:p14="http://schemas.microsoft.com/office/powerpoint/2010/main" val="150561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1D1BCD-11F3-4B4E-BE38-8D5799EE0B19}" type="slidenum">
              <a:rPr lang="en-US" smtClean="0"/>
              <a:t>1</a:t>
            </a:fld>
            <a:endParaRPr lang="en-US"/>
          </a:p>
        </p:txBody>
      </p:sp>
    </p:spTree>
    <p:extLst>
      <p:ext uri="{BB962C8B-B14F-4D97-AF65-F5344CB8AC3E}">
        <p14:creationId xmlns:p14="http://schemas.microsoft.com/office/powerpoint/2010/main" val="2242893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hape 86"/>
          <p:cNvSpPr>
            <a:spLocks noGrp="1" noRot="1" noChangeAspect="1"/>
          </p:cNvSpPr>
          <p:nvPr>
            <p:ph type="sldImg"/>
          </p:nvPr>
        </p:nvSpPr>
        <p:spPr>
          <a:prstGeom prst="rect">
            <a:avLst/>
          </a:prstGeom>
        </p:spPr>
        <p:txBody>
          <a:bodyPr/>
          <a:lstStyle/>
          <a:p>
            <a:pPr lvl="0"/>
            <a:endParaRPr/>
          </a:p>
        </p:txBody>
      </p:sp>
      <p:sp>
        <p:nvSpPr>
          <p:cNvPr id="87" name="Shape 87"/>
          <p:cNvSpPr>
            <a:spLocks noGrp="1"/>
          </p:cNvSpPr>
          <p:nvPr>
            <p:ph type="body" sz="quarter" idx="1"/>
          </p:nvPr>
        </p:nvSpPr>
        <p:spPr>
          <a:prstGeom prst="rect">
            <a:avLst/>
          </a:prstGeom>
        </p:spPr>
        <p:txBody>
          <a:bodyPr/>
          <a:lstStyle/>
          <a:p>
            <a:pPr lvl="0">
              <a:defRPr sz="1800"/>
            </a:pPr>
            <a:r>
              <a:rPr sz="2200"/>
              <a:t>Needed modeling tools for the SGDP to complete the study reporting requirement.</a:t>
            </a:r>
          </a:p>
          <a:p>
            <a:pPr lvl="0">
              <a:defRPr sz="1800"/>
            </a:pPr>
            <a:r>
              <a:rPr sz="2200"/>
              <a:t>Some tools existed, but no one tool did everything we need to model smart grid technology.</a:t>
            </a:r>
          </a:p>
          <a:p>
            <a:pPr lvl="0">
              <a:defRPr sz="1800"/>
            </a:pPr>
            <a:r>
              <a:rPr sz="2200"/>
              <a:t>We realized that what we built, with a little generalization, could be useful far beyond the SGDP.</a:t>
            </a:r>
          </a:p>
        </p:txBody>
      </p:sp>
    </p:spTree>
    <p:extLst>
      <p:ext uri="{BB962C8B-B14F-4D97-AF65-F5344CB8AC3E}">
        <p14:creationId xmlns:p14="http://schemas.microsoft.com/office/powerpoint/2010/main" val="1845584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96"/>
          <p:cNvSpPr>
            <a:spLocks noGrp="1" noRot="1" noChangeAspect="1"/>
          </p:cNvSpPr>
          <p:nvPr>
            <p:ph type="sldImg"/>
          </p:nvPr>
        </p:nvSpPr>
        <p:spPr>
          <a:prstGeom prst="rect">
            <a:avLst/>
          </a:prstGeom>
        </p:spPr>
        <p:txBody>
          <a:bodyPr/>
          <a:lstStyle/>
          <a:p>
            <a:pPr lvl="0"/>
            <a:endParaRPr/>
          </a:p>
        </p:txBody>
      </p:sp>
      <p:sp>
        <p:nvSpPr>
          <p:cNvPr id="97" name="Shape 97"/>
          <p:cNvSpPr>
            <a:spLocks noGrp="1"/>
          </p:cNvSpPr>
          <p:nvPr>
            <p:ph type="body" sz="quarter" idx="1"/>
          </p:nvPr>
        </p:nvSpPr>
        <p:spPr>
          <a:prstGeom prst="rect">
            <a:avLst/>
          </a:prstGeom>
        </p:spPr>
        <p:txBody>
          <a:bodyPr/>
          <a:lstStyle/>
          <a:p>
            <a:pPr lvl="0">
              <a:defRPr sz="1800"/>
            </a:pPr>
            <a:r>
              <a:rPr sz="2200"/>
              <a:t>DOE, industry and the research community have </a:t>
            </a:r>
            <a:r>
              <a:rPr sz="2200" u="sng"/>
              <a:t>hundreds</a:t>
            </a:r>
            <a:r>
              <a:rPr sz="2200"/>
              <a:t> of models.</a:t>
            </a:r>
          </a:p>
          <a:p>
            <a:pPr lvl="0">
              <a:defRPr sz="1800"/>
            </a:pPr>
            <a:r>
              <a:rPr sz="2200"/>
              <a:t>It’s not clear which are useful because they all have different inputs and outputs.</a:t>
            </a:r>
          </a:p>
          <a:p>
            <a:pPr lvl="0">
              <a:defRPr sz="1800"/>
            </a:pPr>
            <a:r>
              <a:rPr sz="2200"/>
              <a:t>If all the models are built in a common framework with common inputs and outputs, they can be compared.</a:t>
            </a:r>
          </a:p>
          <a:p>
            <a:pPr lvl="0">
              <a:defRPr sz="1800"/>
            </a:pPr>
            <a:r>
              <a:rPr sz="2200"/>
              <a:t>Also, gathering good clean data is about 90% of any modeling effort. So the framework can speed up modeling.</a:t>
            </a:r>
          </a:p>
        </p:txBody>
      </p:sp>
    </p:spTree>
    <p:extLst>
      <p:ext uri="{BB962C8B-B14F-4D97-AF65-F5344CB8AC3E}">
        <p14:creationId xmlns:p14="http://schemas.microsoft.com/office/powerpoint/2010/main" val="280742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mj-lt"/>
              <a:buNone/>
            </a:pPr>
            <a:r>
              <a:rPr lang="en-US" dirty="0" smtClean="0"/>
              <a:t>Here is an</a:t>
            </a:r>
            <a:r>
              <a:rPr lang="en-US" baseline="0" dirty="0" smtClean="0"/>
              <a:t> example of how the OMF can be used to design and evaluate a conservation voltage reduction scheme for peak demand reduction.</a:t>
            </a:r>
            <a:endParaRPr lang="en-US" dirty="0" smtClean="0"/>
          </a:p>
          <a:p>
            <a:pPr marL="228600" indent="-228600">
              <a:buFont typeface="+mj-lt"/>
              <a:buAutoNum type="arabicPeriod"/>
            </a:pPr>
            <a:endParaRPr lang="en-US" dirty="0" smtClean="0"/>
          </a:p>
          <a:p>
            <a:pPr marL="228600" indent="-228600">
              <a:buFont typeface="+mj-lt"/>
              <a:buAutoNum type="arabicPeriod"/>
            </a:pPr>
            <a:r>
              <a:rPr lang="en-US" dirty="0" smtClean="0"/>
              <a:t>A Conservation Voltage Reduction scheme was simulated</a:t>
            </a:r>
            <a:r>
              <a:rPr lang="en-US" baseline="0" dirty="0" smtClean="0"/>
              <a:t> over 3 months; processing time was approximately 40 minutes.</a:t>
            </a:r>
          </a:p>
          <a:p>
            <a:pPr marL="228600" indent="-228600">
              <a:buFont typeface="+mj-lt"/>
              <a:buAutoNum type="arabicPeriod"/>
            </a:pPr>
            <a:r>
              <a:rPr lang="en-US" baseline="0" dirty="0" smtClean="0"/>
              <a:t>The impacts of the reduced power consumption during peak load is translated in the reporting layer to cost impacts to capacity and energy costs (red and yellow charts). Total cumulative cost impact of the CVR hardware is calculated over 30 years. Payback period in this case was 2.3 years.</a:t>
            </a:r>
          </a:p>
          <a:p>
            <a:pPr marL="228600" indent="-228600">
              <a:buFont typeface="+mj-lt"/>
              <a:buAutoNum type="arabicPeriod"/>
            </a:pPr>
            <a:r>
              <a:rPr lang="en-US" baseline="0" dirty="0" smtClean="0"/>
              <a:t>Impact of the CVR scheme on capacitor bank switching behavior displayed here. We can evaluate multiple control schemes (and/or grid products).</a:t>
            </a:r>
            <a:endParaRPr lang="en-US" dirty="0"/>
          </a:p>
        </p:txBody>
      </p:sp>
      <p:sp>
        <p:nvSpPr>
          <p:cNvPr id="4" name="Slide Number Placeholder 3"/>
          <p:cNvSpPr>
            <a:spLocks noGrp="1"/>
          </p:cNvSpPr>
          <p:nvPr>
            <p:ph type="sldNum" sz="quarter" idx="10"/>
          </p:nvPr>
        </p:nvSpPr>
        <p:spPr/>
        <p:txBody>
          <a:bodyPr/>
          <a:lstStyle/>
          <a:p>
            <a:pPr>
              <a:defRPr/>
            </a:pPr>
            <a:fld id="{7F006D55-7454-4B49-A525-4B84D3792978}" type="slidenum">
              <a:rPr lang="en-US" smtClean="0">
                <a:solidFill>
                  <a:prstClr val="black"/>
                </a:solidFill>
              </a:rPr>
              <a:pPr>
                <a:defRPr/>
              </a:pPr>
              <a:t>11</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This simulation</a:t>
            </a:r>
            <a:r>
              <a:rPr lang="en-US" baseline="0" dirty="0" smtClean="0"/>
              <a:t> </a:t>
            </a:r>
            <a:r>
              <a:rPr lang="en-US" dirty="0" smtClean="0"/>
              <a:t>compares the behavior of three feeders with different levels of solar installed: none, 100% penetration</a:t>
            </a:r>
            <a:r>
              <a:rPr lang="en-US" baseline="0" dirty="0" smtClean="0"/>
              <a:t> </a:t>
            </a:r>
            <a:r>
              <a:rPr lang="en-US" dirty="0" smtClean="0"/>
              <a:t>5kW residential solar, and an equivalent amount</a:t>
            </a:r>
            <a:r>
              <a:rPr lang="en-US" baseline="0" dirty="0" smtClean="0"/>
              <a:t> of solar installed solar-garden-style directly on the distribution system behind a voltage regulator. Simulation length is 4 realtime days; processing time is about 1 minute.</a:t>
            </a:r>
          </a:p>
          <a:p>
            <a:pPr marL="228600" indent="-228600">
              <a:buFont typeface="+mj-lt"/>
              <a:buAutoNum type="arabicPeriod"/>
            </a:pPr>
            <a:r>
              <a:rPr lang="en-US" baseline="0" dirty="0" smtClean="0"/>
              <a:t>Simulation predicts cases where excess power is generated by the PV systems and returned to the distribution substation—potential for protective device failure and voltage regulation disruption. Energy calculation shows distributed energy generation is approximately twice load consumption.</a:t>
            </a:r>
          </a:p>
          <a:p>
            <a:pPr marL="228600" indent="-228600">
              <a:buFont typeface="+mj-lt"/>
              <a:buAutoNum type="arabicPeriod"/>
            </a:pPr>
            <a:r>
              <a:rPr lang="en-US" baseline="0" dirty="0" smtClean="0"/>
              <a:t>Solar generation results are based on a full climate simulation of temperature, direct and indirect insolation, wind speed, etc.</a:t>
            </a:r>
          </a:p>
          <a:p>
            <a:pPr marL="228600" indent="-228600">
              <a:buFont typeface="+mj-lt"/>
              <a:buAutoNum type="arabicPeriod"/>
            </a:pPr>
            <a:endParaRPr lang="en-US" dirty="0"/>
          </a:p>
        </p:txBody>
      </p:sp>
      <p:sp>
        <p:nvSpPr>
          <p:cNvPr id="4" name="Slide Number Placeholder 3"/>
          <p:cNvSpPr>
            <a:spLocks noGrp="1"/>
          </p:cNvSpPr>
          <p:nvPr>
            <p:ph type="sldNum" sz="quarter" idx="10"/>
          </p:nvPr>
        </p:nvSpPr>
        <p:spPr/>
        <p:txBody>
          <a:bodyPr/>
          <a:lstStyle/>
          <a:p>
            <a:fld id="{A1F88A2F-225B-4B91-99A6-BEE6D135053E}"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3266097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In</a:t>
            </a:r>
            <a:r>
              <a:rPr lang="en-US" baseline="0" dirty="0" smtClean="0"/>
              <a:t> the rooftop solar case, overvoltage is predicted during insolation peaks. For the same surface area of PV installed directly to the distribution system behind a voltage regulator, voltage peaks are flattened.</a:t>
            </a:r>
            <a:endParaRPr lang="en-US" dirty="0"/>
          </a:p>
        </p:txBody>
      </p:sp>
      <p:sp>
        <p:nvSpPr>
          <p:cNvPr id="4" name="Slide Number Placeholder 3"/>
          <p:cNvSpPr>
            <a:spLocks noGrp="1"/>
          </p:cNvSpPr>
          <p:nvPr>
            <p:ph type="sldNum" sz="quarter" idx="10"/>
          </p:nvPr>
        </p:nvSpPr>
        <p:spPr/>
        <p:txBody>
          <a:bodyPr/>
          <a:lstStyle/>
          <a:p>
            <a:fld id="{A1F88A2F-225B-4B91-99A6-BEE6D135053E}"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266097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Grid Analytics Association</a:t>
            </a:r>
          </a:p>
          <a:p>
            <a:endParaRPr lang="en-US" dirty="0" smtClean="0"/>
          </a:p>
          <a:p>
            <a:r>
              <a:rPr lang="en-US" dirty="0" smtClean="0"/>
              <a:t>DoE asked</a:t>
            </a:r>
            <a:r>
              <a:rPr lang="en-US" baseline="0" dirty="0" smtClean="0"/>
              <a:t> us to incorporate this non-profit organization. It is intended to own, and decide on the development direction for, </a:t>
            </a:r>
            <a:r>
              <a:rPr lang="en-US" baseline="0" dirty="0" err="1" smtClean="0"/>
              <a:t>GridLAB</a:t>
            </a:r>
            <a:r>
              <a:rPr lang="en-US" baseline="0" dirty="0" smtClean="0"/>
              <a:t>-D, DoE’s most advanced grid simulation software (10 years, about a dozen developers). Craig Miller, our chief scientist, is the president of this association.</a:t>
            </a:r>
          </a:p>
        </p:txBody>
      </p:sp>
      <p:sp>
        <p:nvSpPr>
          <p:cNvPr id="4" name="Slide Number Placeholder 3"/>
          <p:cNvSpPr>
            <a:spLocks noGrp="1"/>
          </p:cNvSpPr>
          <p:nvPr>
            <p:ph type="sldNum" sz="quarter" idx="10"/>
          </p:nvPr>
        </p:nvSpPr>
        <p:spPr/>
        <p:txBody>
          <a:bodyPr/>
          <a:lstStyle/>
          <a:p>
            <a:fld id="{301D1BCD-11F3-4B4E-BE38-8D5799EE0B19}" type="slidenum">
              <a:rPr lang="en-US" smtClean="0"/>
              <a:t>14</a:t>
            </a:fld>
            <a:endParaRPr lang="en-US"/>
          </a:p>
        </p:txBody>
      </p:sp>
    </p:spTree>
    <p:extLst>
      <p:ext uri="{BB962C8B-B14F-4D97-AF65-F5344CB8AC3E}">
        <p14:creationId xmlns:p14="http://schemas.microsoft.com/office/powerpoint/2010/main" val="927015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8373E90-BB42-4D3B-986A-B2C9C906C04D}" type="datetimeFigureOut">
              <a:rPr lang="en-US" smtClean="0"/>
              <a:t>6/21/17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888725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73E90-BB42-4D3B-986A-B2C9C906C04D}" type="datetimeFigureOut">
              <a:rPr lang="en-US" smtClean="0"/>
              <a:t>6/21/17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790030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373E90-BB42-4D3B-986A-B2C9C906C04D}" type="datetimeFigureOut">
              <a:rPr lang="en-US" smtClean="0"/>
              <a:t>6/21/17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4260170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8373E90-BB42-4D3B-986A-B2C9C906C04D}" type="datetimeFigureOut">
              <a:rPr lang="en-US" smtClean="0"/>
              <a:t>6/21/17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3718606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8373E90-BB42-4D3B-986A-B2C9C906C04D}" type="datetimeFigureOut">
              <a:rPr lang="en-US" smtClean="0"/>
              <a:t>6/21/17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257307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373E90-BB42-4D3B-986A-B2C9C906C04D}" type="datetimeFigureOut">
              <a:rPr lang="en-US" smtClean="0"/>
              <a:t>6/21/17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2474888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373E90-BB42-4D3B-986A-B2C9C906C04D}" type="datetimeFigureOut">
              <a:rPr lang="en-US" smtClean="0"/>
              <a:t>6/21/17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52868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373E90-BB42-4D3B-986A-B2C9C906C04D}" type="datetimeFigureOut">
              <a:rPr lang="en-US" smtClean="0"/>
              <a:t>6/21/17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1058165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373E90-BB42-4D3B-986A-B2C9C906C04D}" type="datetimeFigureOut">
              <a:rPr lang="en-US" smtClean="0"/>
              <a:t>6/21/17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364182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73E90-BB42-4D3B-986A-B2C9C906C04D}" type="datetimeFigureOut">
              <a:rPr lang="en-US" smtClean="0"/>
              <a:t>6/21/17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2960171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73E90-BB42-4D3B-986A-B2C9C906C04D}" type="datetimeFigureOut">
              <a:rPr lang="en-US" smtClean="0"/>
              <a:t>6/21/17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079E28-213B-4792-A012-379F1FE2F9A7}" type="slidenum">
              <a:rPr lang="en-US" smtClean="0"/>
              <a:t>‹#›</a:t>
            </a:fld>
            <a:endParaRPr lang="en-US"/>
          </a:p>
        </p:txBody>
      </p:sp>
    </p:spTree>
    <p:extLst>
      <p:ext uri="{BB962C8B-B14F-4D97-AF65-F5344CB8AC3E}">
        <p14:creationId xmlns:p14="http://schemas.microsoft.com/office/powerpoint/2010/main" val="3030604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extBox 8"/>
          <p:cNvSpPr txBox="1">
            <a:spLocks noChangeArrowheads="1"/>
          </p:cNvSpPr>
          <p:nvPr/>
        </p:nvSpPr>
        <p:spPr bwMode="auto">
          <a:xfrm>
            <a:off x="8872538" y="-622300"/>
            <a:ext cx="185737"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
        <p:nvSpPr>
          <p:cNvPr id="5" name="TextBox 9"/>
          <p:cNvSpPr txBox="1">
            <a:spLocks noChangeArrowheads="1"/>
          </p:cNvSpPr>
          <p:nvPr/>
        </p:nvSpPr>
        <p:spPr bwMode="auto">
          <a:xfrm>
            <a:off x="8786813" y="-657225"/>
            <a:ext cx="184150"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
        <p:nvSpPr>
          <p:cNvPr id="7" name="Title Placeholder 1"/>
          <p:cNvSpPr>
            <a:spLocks noGrp="1"/>
          </p:cNvSpPr>
          <p:nvPr>
            <p:ph type="title"/>
          </p:nvPr>
        </p:nvSpPr>
        <p:spPr>
          <a:xfrm>
            <a:off x="596136" y="224640"/>
            <a:ext cx="8090663" cy="665280"/>
          </a:xfrm>
          <a:prstGeom prst="rect">
            <a:avLst/>
          </a:prstGeom>
        </p:spPr>
        <p:txBody>
          <a:bodyPr rtlCol="0">
            <a:normAutofit/>
          </a:bodyPr>
          <a:lstStyle/>
          <a:p>
            <a:r>
              <a:rPr lang="en-US" dirty="0" smtClean="0"/>
              <a:t>Click to edit Master title style</a:t>
            </a:r>
            <a:endParaRPr lang="en-US" dirty="0"/>
          </a:p>
        </p:txBody>
      </p:sp>
      <p:sp>
        <p:nvSpPr>
          <p:cNvPr id="8" name="Text Placeholder 2"/>
          <p:cNvSpPr>
            <a:spLocks noGrp="1"/>
          </p:cNvSpPr>
          <p:nvPr>
            <p:ph idx="1"/>
          </p:nvPr>
        </p:nvSpPr>
        <p:spPr>
          <a:xfrm>
            <a:off x="1373706" y="1600200"/>
            <a:ext cx="7313094" cy="4931640"/>
          </a:xfrm>
          <a:prstGeom prst="rect">
            <a:avLst/>
          </a:prstGeom>
          <a:noFill/>
          <a:ln>
            <a:noFill/>
          </a:ln>
        </p:spPr>
        <p:style>
          <a:lnRef idx="1">
            <a:schemeClr val="dk1"/>
          </a:lnRef>
          <a:fillRef idx="3">
            <a:schemeClr val="dk1"/>
          </a:fillRef>
          <a:effectRef idx="2">
            <a:schemeClr val="dk1"/>
          </a:effectRef>
          <a:fontRef idx="none"/>
        </p:style>
        <p:txBody>
          <a:bodyPr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719658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Slide Number Placeholder 3"/>
          <p:cNvSpPr>
            <a:spLocks noGrp="1"/>
          </p:cNvSpPr>
          <p:nvPr>
            <p:ph type="sldNum" sz="quarter" idx="4"/>
          </p:nvPr>
        </p:nvSpPr>
        <p:spPr>
          <a:xfrm>
            <a:off x="354390" y="6356350"/>
            <a:ext cx="2133600" cy="365125"/>
          </a:xfrm>
          <a:prstGeom prst="rect">
            <a:avLst/>
          </a:prstGeom>
        </p:spPr>
        <p:txBody>
          <a:bodyPr/>
          <a:lstStyle>
            <a:lvl1pPr>
              <a:defRPr sz="1200"/>
            </a:lvl1pPr>
          </a:lstStyle>
          <a:p>
            <a:pPr fontAlgn="base">
              <a:spcBef>
                <a:spcPct val="0"/>
              </a:spcBef>
              <a:spcAft>
                <a:spcPct val="0"/>
              </a:spcAft>
            </a:pPr>
            <a:fld id="{27E9DEC8-078D-4CB1-887F-F65BFB5B4D64}" type="slidenum">
              <a:rPr lang="en-US" smtClean="0">
                <a:solidFill>
                  <a:prstClr val="black"/>
                </a:solidFill>
                <a:ea typeface="ＭＳ Ｐゴシック" pitchFamily="51" charset="-128"/>
              </a:rPr>
              <a:pPr fontAlgn="base">
                <a:spcBef>
                  <a:spcPct val="0"/>
                </a:spcBef>
                <a:spcAft>
                  <a:spcPct val="0"/>
                </a:spcAft>
              </a:pPr>
              <a:t>‹#›</a:t>
            </a:fld>
            <a:endParaRPr lang="en-US">
              <a:solidFill>
                <a:prstClr val="black"/>
              </a:solidFill>
              <a:ea typeface="ＭＳ Ｐゴシック" pitchFamily="51" charset="-128"/>
            </a:endParaRPr>
          </a:p>
        </p:txBody>
      </p:sp>
    </p:spTree>
    <p:extLst>
      <p:ext uri="{BB962C8B-B14F-4D97-AF65-F5344CB8AC3E}">
        <p14:creationId xmlns:p14="http://schemas.microsoft.com/office/powerpoint/2010/main" val="2312801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extBox 8"/>
          <p:cNvSpPr txBox="1">
            <a:spLocks noChangeArrowheads="1"/>
          </p:cNvSpPr>
          <p:nvPr/>
        </p:nvSpPr>
        <p:spPr bwMode="auto">
          <a:xfrm>
            <a:off x="8872538" y="-622300"/>
            <a:ext cx="185737"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
        <p:nvSpPr>
          <p:cNvPr id="5" name="TextBox 9"/>
          <p:cNvSpPr txBox="1">
            <a:spLocks noChangeArrowheads="1"/>
          </p:cNvSpPr>
          <p:nvPr/>
        </p:nvSpPr>
        <p:spPr bwMode="auto">
          <a:xfrm>
            <a:off x="8786813" y="-657225"/>
            <a:ext cx="184150"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
        <p:nvSpPr>
          <p:cNvPr id="7" name="Title Placeholder 1"/>
          <p:cNvSpPr>
            <a:spLocks noGrp="1"/>
          </p:cNvSpPr>
          <p:nvPr>
            <p:ph type="title"/>
          </p:nvPr>
        </p:nvSpPr>
        <p:spPr>
          <a:xfrm>
            <a:off x="596136" y="224640"/>
            <a:ext cx="8090663" cy="665280"/>
          </a:xfrm>
          <a:prstGeom prst="rect">
            <a:avLst/>
          </a:prstGeom>
        </p:spPr>
        <p:txBody>
          <a:bodyPr rtlCol="0">
            <a:normAutofit/>
          </a:bodyPr>
          <a:lstStyle/>
          <a:p>
            <a:r>
              <a:rPr lang="en-US" dirty="0" smtClean="0"/>
              <a:t>Click to edit Master title style</a:t>
            </a:r>
            <a:endParaRPr lang="en-US" dirty="0"/>
          </a:p>
        </p:txBody>
      </p:sp>
      <p:sp>
        <p:nvSpPr>
          <p:cNvPr id="8" name="Text Placeholder 2"/>
          <p:cNvSpPr>
            <a:spLocks noGrp="1"/>
          </p:cNvSpPr>
          <p:nvPr>
            <p:ph idx="1"/>
          </p:nvPr>
        </p:nvSpPr>
        <p:spPr>
          <a:xfrm>
            <a:off x="1373706" y="1600200"/>
            <a:ext cx="7313094" cy="4931640"/>
          </a:xfrm>
          <a:prstGeom prst="rect">
            <a:avLst/>
          </a:prstGeom>
          <a:noFill/>
          <a:ln>
            <a:noFill/>
          </a:ln>
        </p:spPr>
        <p:style>
          <a:lnRef idx="1">
            <a:schemeClr val="dk1"/>
          </a:lnRef>
          <a:fillRef idx="3">
            <a:schemeClr val="dk1"/>
          </a:fillRef>
          <a:effectRef idx="2">
            <a:schemeClr val="dk1"/>
          </a:effectRef>
          <a:fontRef idx="none"/>
        </p:style>
        <p:txBody>
          <a:bodyPr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780771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64576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097510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676578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9273594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2579428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5430432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05677261"/>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8108208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091624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400372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3887716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mp; Subtitle">
    <p:spTree>
      <p:nvGrpSpPr>
        <p:cNvPr id="1" name=""/>
        <p:cNvGrpSpPr/>
        <p:nvPr/>
      </p:nvGrpSpPr>
      <p:grpSpPr>
        <a:xfrm>
          <a:off x="0" y="0"/>
          <a:ext cx="0" cy="0"/>
          <a:chOff x="0" y="0"/>
          <a:chExt cx="0" cy="0"/>
        </a:xfrm>
      </p:grpSpPr>
      <p:sp>
        <p:nvSpPr>
          <p:cNvPr id="5" name="Shape 5"/>
          <p:cNvSpPr>
            <a:spLocks noGrp="1"/>
          </p:cNvSpPr>
          <p:nvPr>
            <p:ph type="title"/>
          </p:nvPr>
        </p:nvSpPr>
        <p:spPr>
          <a:xfrm>
            <a:off x="892969" y="1151930"/>
            <a:ext cx="7358063" cy="2321719"/>
          </a:xfrm>
          <a:prstGeom prst="rect">
            <a:avLst/>
          </a:prstGeom>
        </p:spPr>
        <p:txBody>
          <a:bodyPr anchor="b"/>
          <a:lstStyle/>
          <a:p>
            <a:pPr lvl="0">
              <a:defRPr sz="1800" u="none"/>
            </a:pPr>
            <a:r>
              <a:rPr sz="3516" u="sng"/>
              <a:t>Title Text</a:t>
            </a:r>
          </a:p>
        </p:txBody>
      </p:sp>
      <p:sp>
        <p:nvSpPr>
          <p:cNvPr id="6" name="Shape 6"/>
          <p:cNvSpPr>
            <a:spLocks noGrp="1"/>
          </p:cNvSpPr>
          <p:nvPr>
            <p:ph type="body" idx="1"/>
          </p:nvPr>
        </p:nvSpPr>
        <p:spPr>
          <a:xfrm>
            <a:off x="892969" y="3536156"/>
            <a:ext cx="7358063" cy="794742"/>
          </a:xfrm>
          <a:prstGeom prst="rect">
            <a:avLst/>
          </a:prstGeom>
        </p:spPr>
        <p:txBody>
          <a:bodyPr anchor="t"/>
          <a:lstStyle>
            <a:lvl1pPr marL="0" indent="0" algn="ctr">
              <a:spcBef>
                <a:spcPts val="0"/>
              </a:spcBef>
              <a:buSzTx/>
              <a:buNone/>
              <a:defRPr sz="2250"/>
            </a:lvl1pPr>
            <a:lvl2pPr marL="0" indent="160729" algn="ctr">
              <a:spcBef>
                <a:spcPts val="0"/>
              </a:spcBef>
              <a:buSzTx/>
              <a:buNone/>
              <a:defRPr sz="2250"/>
            </a:lvl2pPr>
            <a:lvl3pPr marL="0" indent="321457" algn="ctr">
              <a:spcBef>
                <a:spcPts val="0"/>
              </a:spcBef>
              <a:buSzTx/>
              <a:buNone/>
              <a:defRPr sz="2250"/>
            </a:lvl3pPr>
            <a:lvl4pPr marL="0" indent="482186" algn="ctr">
              <a:spcBef>
                <a:spcPts val="0"/>
              </a:spcBef>
              <a:buSzTx/>
              <a:buNone/>
              <a:defRPr sz="2250"/>
            </a:lvl4pPr>
            <a:lvl5pPr marL="0" indent="642915" algn="ctr">
              <a:spcBef>
                <a:spcPts val="0"/>
              </a:spcBef>
              <a:buSzTx/>
              <a:buNone/>
              <a:defRPr sz="2250"/>
            </a:lvl5pPr>
          </a:lstStyle>
          <a:p>
            <a:pPr lvl="0">
              <a:defRPr sz="1800"/>
            </a:pPr>
            <a:r>
              <a:rPr sz="2250"/>
              <a:t>Body Level One</a:t>
            </a:r>
          </a:p>
          <a:p>
            <a:pPr lvl="1">
              <a:defRPr sz="1800"/>
            </a:pPr>
            <a:r>
              <a:rPr sz="2250"/>
              <a:t>Body Level Two</a:t>
            </a:r>
          </a:p>
          <a:p>
            <a:pPr lvl="2">
              <a:defRPr sz="1800"/>
            </a:pPr>
            <a:r>
              <a:rPr sz="2250"/>
              <a:t>Body Level Three</a:t>
            </a:r>
          </a:p>
          <a:p>
            <a:pPr lvl="3">
              <a:defRPr sz="1800"/>
            </a:pPr>
            <a:r>
              <a:rPr sz="2250"/>
              <a:t>Body Level Four</a:t>
            </a:r>
          </a:p>
          <a:p>
            <a:pPr lvl="4">
              <a:defRPr sz="1800"/>
            </a:pPr>
            <a:r>
              <a:rPr sz="2250"/>
              <a:t>Body Level Five</a:t>
            </a:r>
          </a:p>
        </p:txBody>
      </p:sp>
    </p:spTree>
    <p:extLst>
      <p:ext uri="{BB962C8B-B14F-4D97-AF65-F5344CB8AC3E}">
        <p14:creationId xmlns:p14="http://schemas.microsoft.com/office/powerpoint/2010/main" val="1548202424"/>
      </p:ext>
    </p:extLst>
  </p:cSld>
  <p:clrMapOvr>
    <a:masterClrMapping/>
  </p:clrMapOvr>
  <p:transition spd="med"/>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4" Type="http://schemas.openxmlformats.org/officeDocument/2006/relationships/image" Target="../media/image1.jpeg"/><Relationship Id="rId1" Type="http://schemas.openxmlformats.org/officeDocument/2006/relationships/slideLayout" Target="../slideLayouts/slideLayout12.xml"/><Relationship Id="rId2"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3.xml"/><Relationship Id="rId3"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theme" Target="../theme/theme4.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373E90-BB42-4D3B-986A-B2C9C906C04D}" type="datetimeFigureOut">
              <a:rPr lang="en-US" smtClean="0"/>
              <a:t>6/21/17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079E28-213B-4792-A012-379F1FE2F9A7}" type="slidenum">
              <a:rPr lang="en-US" smtClean="0"/>
              <a:t>‹#›</a:t>
            </a:fld>
            <a:endParaRPr lang="en-US"/>
          </a:p>
        </p:txBody>
      </p:sp>
    </p:spTree>
    <p:extLst>
      <p:ext uri="{BB962C8B-B14F-4D97-AF65-F5344CB8AC3E}">
        <p14:creationId xmlns:p14="http://schemas.microsoft.com/office/powerpoint/2010/main" val="3489569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122" name="Picture 3" descr="CRN_PPT2 copy.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itle Placeholder 1"/>
          <p:cNvSpPr>
            <a:spLocks noGrp="1"/>
          </p:cNvSpPr>
          <p:nvPr>
            <p:ph type="title"/>
          </p:nvPr>
        </p:nvSpPr>
        <p:spPr bwMode="auto">
          <a:xfrm>
            <a:off x="596900" y="225425"/>
            <a:ext cx="80899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 name="Text Placeholder 2"/>
          <p:cNvSpPr>
            <a:spLocks noGrp="1"/>
          </p:cNvSpPr>
          <p:nvPr>
            <p:ph type="body" idx="1"/>
          </p:nvPr>
        </p:nvSpPr>
        <p:spPr bwMode="auto">
          <a:xfrm>
            <a:off x="1373188" y="1600200"/>
            <a:ext cx="7313612" cy="4932363"/>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077" name="TextBox 6"/>
          <p:cNvSpPr txBox="1">
            <a:spLocks noChangeArrowheads="1"/>
          </p:cNvSpPr>
          <p:nvPr/>
        </p:nvSpPr>
        <p:spPr bwMode="auto">
          <a:xfrm>
            <a:off x="8872538" y="-622300"/>
            <a:ext cx="185737"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
        <p:nvSpPr>
          <p:cNvPr id="3078" name="TextBox 7"/>
          <p:cNvSpPr txBox="1">
            <a:spLocks noChangeArrowheads="1"/>
          </p:cNvSpPr>
          <p:nvPr/>
        </p:nvSpPr>
        <p:spPr bwMode="auto">
          <a:xfrm>
            <a:off x="8786813" y="-657225"/>
            <a:ext cx="184150"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Tree>
    <p:extLst>
      <p:ext uri="{BB962C8B-B14F-4D97-AF65-F5344CB8AC3E}">
        <p14:creationId xmlns:p14="http://schemas.microsoft.com/office/powerpoint/2010/main" val="889832417"/>
      </p:ext>
    </p:extLst>
  </p:cSld>
  <p:clrMap bg1="lt1" tx1="dk1" bg2="lt2" tx2="dk2" accent1="accent1" accent2="accent2" accent3="accent3" accent4="accent4" accent5="accent5" accent6="accent6" hlink="hlink" folHlink="folHlink"/>
  <p:sldLayoutIdLst>
    <p:sldLayoutId id="2147483661" r:id="rId1"/>
    <p:sldLayoutId id="2147483663" r:id="rId2"/>
  </p:sldLayoutIdLst>
  <p:hf sldNum="0" hdr="0" ftr="0" dt="0"/>
  <p:txStyles>
    <p:titleStyle>
      <a:lvl1pPr algn="ctr" defTabSz="457200" rtl="0" eaLnBrk="0" fontAlgn="base" hangingPunct="0">
        <a:spcBef>
          <a:spcPct val="0"/>
        </a:spcBef>
        <a:spcAft>
          <a:spcPct val="0"/>
        </a:spcAft>
        <a:defRPr sz="2800" kern="1200">
          <a:solidFill>
            <a:schemeClr val="tx1"/>
          </a:solidFill>
          <a:latin typeface="+mj-lt"/>
          <a:ea typeface="ＭＳ Ｐゴシック" pitchFamily="51" charset="-128"/>
          <a:cs typeface="ＭＳ Ｐゴシック" pitchFamily="51" charset="-128"/>
        </a:defRPr>
      </a:lvl1pPr>
      <a:lvl2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2pPr>
      <a:lvl3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3pPr>
      <a:lvl4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4pPr>
      <a:lvl5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5pPr>
      <a:lvl6pPr marL="4572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6pPr>
      <a:lvl7pPr marL="9144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7pPr>
      <a:lvl8pPr marL="13716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8pPr>
      <a:lvl9pPr marL="18288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9pPr>
    </p:titleStyle>
    <p:bodyStyle>
      <a:lvl1pPr marL="342900" indent="-342900" algn="l" defTabSz="457200" rtl="0" eaLnBrk="0" fontAlgn="base" hangingPunct="0">
        <a:spcBef>
          <a:spcPct val="20000"/>
        </a:spcBef>
        <a:spcAft>
          <a:spcPct val="0"/>
        </a:spcAft>
        <a:buClr>
          <a:srgbClr val="107B41"/>
        </a:buClr>
        <a:buFont typeface="Arial" charset="0"/>
        <a:buChar char="•"/>
        <a:defRPr sz="2800" kern="1200">
          <a:solidFill>
            <a:schemeClr val="accent1"/>
          </a:solidFill>
          <a:latin typeface="+mn-lt"/>
          <a:ea typeface="ＭＳ Ｐゴシック" pitchFamily="51" charset="-128"/>
          <a:cs typeface="ＭＳ Ｐゴシック" pitchFamily="51" charset="-128"/>
        </a:defRPr>
      </a:lvl1pPr>
      <a:lvl2pPr marL="742950" indent="-285750" algn="l" defTabSz="457200" rtl="0" eaLnBrk="0" fontAlgn="base" hangingPunct="0">
        <a:spcBef>
          <a:spcPct val="20000"/>
        </a:spcBef>
        <a:spcAft>
          <a:spcPct val="0"/>
        </a:spcAft>
        <a:buClr>
          <a:srgbClr val="107B41"/>
        </a:buClr>
        <a:buFont typeface="Arial" charset="0"/>
        <a:buChar char="–"/>
        <a:defRPr sz="2400" kern="1200">
          <a:solidFill>
            <a:schemeClr val="accent1"/>
          </a:solidFill>
          <a:latin typeface="+mn-lt"/>
          <a:ea typeface="ＭＳ Ｐゴシック" pitchFamily="51" charset="-128"/>
          <a:cs typeface="+mn-cs"/>
        </a:defRPr>
      </a:lvl2pPr>
      <a:lvl3pPr marL="1143000" indent="-228600" algn="l" defTabSz="457200" rtl="0" eaLnBrk="0" fontAlgn="base" hangingPunct="0">
        <a:spcBef>
          <a:spcPct val="20000"/>
        </a:spcBef>
        <a:spcAft>
          <a:spcPct val="0"/>
        </a:spcAft>
        <a:buClr>
          <a:srgbClr val="107B41"/>
        </a:buClr>
        <a:buFont typeface="Arial" charset="0"/>
        <a:buChar char="•"/>
        <a:defRPr sz="2000" kern="1200">
          <a:solidFill>
            <a:schemeClr val="accent1"/>
          </a:solidFill>
          <a:latin typeface="+mn-lt"/>
          <a:ea typeface="ＭＳ Ｐゴシック" pitchFamily="51" charset="-128"/>
          <a:cs typeface="+mn-cs"/>
        </a:defRPr>
      </a:lvl3pPr>
      <a:lvl4pPr marL="1600200" indent="-228600" algn="l" defTabSz="457200" rtl="0" eaLnBrk="0" fontAlgn="base" hangingPunct="0">
        <a:spcBef>
          <a:spcPct val="20000"/>
        </a:spcBef>
        <a:spcAft>
          <a:spcPct val="0"/>
        </a:spcAft>
        <a:buClr>
          <a:srgbClr val="107B41"/>
        </a:buClr>
        <a:buFont typeface="Arial" charset="0"/>
        <a:buChar char="–"/>
        <a:defRPr kern="1200">
          <a:solidFill>
            <a:schemeClr val="accent1"/>
          </a:solidFill>
          <a:latin typeface="+mn-lt"/>
          <a:ea typeface="ＭＳ Ｐゴシック" pitchFamily="51" charset="-128"/>
          <a:cs typeface="+mn-cs"/>
        </a:defRPr>
      </a:lvl4pPr>
      <a:lvl5pPr marL="2057400" indent="-228600" algn="l" defTabSz="457200" rtl="0" eaLnBrk="0" fontAlgn="base" hangingPunct="0">
        <a:spcBef>
          <a:spcPct val="20000"/>
        </a:spcBef>
        <a:spcAft>
          <a:spcPct val="0"/>
        </a:spcAft>
        <a:buClr>
          <a:srgbClr val="107B41"/>
        </a:buClr>
        <a:buFont typeface="Arial" charset="0"/>
        <a:buChar char="»"/>
        <a:defRPr kern="1200">
          <a:solidFill>
            <a:schemeClr val="accent1"/>
          </a:solidFill>
          <a:latin typeface="+mn-lt"/>
          <a:ea typeface="ＭＳ Ｐゴシック" pitchFamily="51"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3" descr="CRN_variations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itle Placeholder 1"/>
          <p:cNvSpPr>
            <a:spLocks noGrp="1"/>
          </p:cNvSpPr>
          <p:nvPr>
            <p:ph type="title"/>
          </p:nvPr>
        </p:nvSpPr>
        <p:spPr bwMode="auto">
          <a:xfrm>
            <a:off x="596900" y="225425"/>
            <a:ext cx="80899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 name="Text Placeholder 2"/>
          <p:cNvSpPr>
            <a:spLocks noGrp="1"/>
          </p:cNvSpPr>
          <p:nvPr>
            <p:ph type="body" idx="1"/>
          </p:nvPr>
        </p:nvSpPr>
        <p:spPr bwMode="auto">
          <a:xfrm>
            <a:off x="1373188" y="1600200"/>
            <a:ext cx="7313612" cy="4932363"/>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3" name="TextBox 6"/>
          <p:cNvSpPr txBox="1">
            <a:spLocks noChangeArrowheads="1"/>
          </p:cNvSpPr>
          <p:nvPr/>
        </p:nvSpPr>
        <p:spPr bwMode="auto">
          <a:xfrm>
            <a:off x="8872538" y="-622300"/>
            <a:ext cx="185737"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
        <p:nvSpPr>
          <p:cNvPr id="2054" name="TextBox 7"/>
          <p:cNvSpPr txBox="1">
            <a:spLocks noChangeArrowheads="1"/>
          </p:cNvSpPr>
          <p:nvPr/>
        </p:nvSpPr>
        <p:spPr bwMode="auto">
          <a:xfrm>
            <a:off x="8786813" y="-657225"/>
            <a:ext cx="184150" cy="369887"/>
          </a:xfrm>
          <a:prstGeom prst="rect">
            <a:avLst/>
          </a:prstGeom>
          <a:noFill/>
          <a:ln w="9525">
            <a:noFill/>
            <a:miter lim="800000"/>
            <a:headEnd/>
            <a:tailEnd/>
          </a:ln>
        </p:spPr>
        <p:txBody>
          <a:bodyPr wrap="none">
            <a:spAutoFit/>
          </a:bodyPr>
          <a:lstStyle>
            <a:lvl1pPr eaLnBrk="0" hangingPunct="0">
              <a:defRPr sz="2400">
                <a:solidFill>
                  <a:schemeClr val="tx1"/>
                </a:solidFill>
                <a:latin typeface="Arial Narrow" pitchFamily="51" charset="0"/>
                <a:ea typeface="ＭＳ Ｐゴシック" pitchFamily="51" charset="-128"/>
              </a:defRPr>
            </a:lvl1pPr>
            <a:lvl2pPr marL="37931725" indent="-37474525" eaLnBrk="0" hangingPunct="0">
              <a:defRPr sz="2400">
                <a:solidFill>
                  <a:schemeClr val="tx1"/>
                </a:solidFill>
                <a:latin typeface="Arial Narrow" pitchFamily="51" charset="0"/>
                <a:ea typeface="ＭＳ Ｐゴシック" pitchFamily="51" charset="-128"/>
              </a:defRPr>
            </a:lvl2pPr>
            <a:lvl3pPr eaLnBrk="0" hangingPunct="0">
              <a:defRPr sz="2400">
                <a:solidFill>
                  <a:schemeClr val="tx1"/>
                </a:solidFill>
                <a:latin typeface="Arial Narrow" pitchFamily="51" charset="0"/>
                <a:ea typeface="ＭＳ Ｐゴシック" pitchFamily="51" charset="-128"/>
              </a:defRPr>
            </a:lvl3pPr>
            <a:lvl4pPr eaLnBrk="0" hangingPunct="0">
              <a:defRPr sz="2400">
                <a:solidFill>
                  <a:schemeClr val="tx1"/>
                </a:solidFill>
                <a:latin typeface="Arial Narrow" pitchFamily="51" charset="0"/>
                <a:ea typeface="ＭＳ Ｐゴシック" pitchFamily="51" charset="-128"/>
              </a:defRPr>
            </a:lvl4pPr>
            <a:lvl5pPr eaLnBrk="0" hangingPunct="0">
              <a:defRPr sz="2400">
                <a:solidFill>
                  <a:schemeClr val="tx1"/>
                </a:solidFill>
                <a:latin typeface="Arial Narrow" pitchFamily="51" charset="0"/>
                <a:ea typeface="ＭＳ Ｐゴシック" pitchFamily="51" charset="-128"/>
              </a:defRPr>
            </a:lvl5pPr>
            <a:lvl6pPr marL="457200" eaLnBrk="0" fontAlgn="base" hangingPunct="0">
              <a:spcBef>
                <a:spcPct val="0"/>
              </a:spcBef>
              <a:spcAft>
                <a:spcPct val="0"/>
              </a:spcAft>
              <a:defRPr sz="2400">
                <a:solidFill>
                  <a:schemeClr val="tx1"/>
                </a:solidFill>
                <a:latin typeface="Arial Narrow" pitchFamily="51" charset="0"/>
                <a:ea typeface="ＭＳ Ｐゴシック" pitchFamily="51" charset="-128"/>
              </a:defRPr>
            </a:lvl6pPr>
            <a:lvl7pPr marL="914400" eaLnBrk="0" fontAlgn="base" hangingPunct="0">
              <a:spcBef>
                <a:spcPct val="0"/>
              </a:spcBef>
              <a:spcAft>
                <a:spcPct val="0"/>
              </a:spcAft>
              <a:defRPr sz="2400">
                <a:solidFill>
                  <a:schemeClr val="tx1"/>
                </a:solidFill>
                <a:latin typeface="Arial Narrow" pitchFamily="51" charset="0"/>
                <a:ea typeface="ＭＳ Ｐゴシック" pitchFamily="51" charset="-128"/>
              </a:defRPr>
            </a:lvl7pPr>
            <a:lvl8pPr marL="1371600" eaLnBrk="0" fontAlgn="base" hangingPunct="0">
              <a:spcBef>
                <a:spcPct val="0"/>
              </a:spcBef>
              <a:spcAft>
                <a:spcPct val="0"/>
              </a:spcAft>
              <a:defRPr sz="2400">
                <a:solidFill>
                  <a:schemeClr val="tx1"/>
                </a:solidFill>
                <a:latin typeface="Arial Narrow" pitchFamily="51" charset="0"/>
                <a:ea typeface="ＭＳ Ｐゴシック" pitchFamily="51" charset="-128"/>
              </a:defRPr>
            </a:lvl8pPr>
            <a:lvl9pPr marL="1828800" eaLnBrk="0" fontAlgn="base" hangingPunct="0">
              <a:spcBef>
                <a:spcPct val="0"/>
              </a:spcBef>
              <a:spcAft>
                <a:spcPct val="0"/>
              </a:spcAft>
              <a:defRPr sz="2400">
                <a:solidFill>
                  <a:schemeClr val="tx1"/>
                </a:solidFill>
                <a:latin typeface="Arial Narrow" pitchFamily="51" charset="0"/>
                <a:ea typeface="ＭＳ Ｐゴシック" pitchFamily="51" charset="-128"/>
              </a:defRPr>
            </a:lvl9pPr>
          </a:lstStyle>
          <a:p>
            <a:pPr eaLnBrk="1" fontAlgn="base" hangingPunct="1">
              <a:spcBef>
                <a:spcPct val="0"/>
              </a:spcBef>
              <a:spcAft>
                <a:spcPct val="0"/>
              </a:spcAft>
            </a:pPr>
            <a:endParaRPr lang="en-US" sz="1800" dirty="0">
              <a:solidFill>
                <a:srgbClr val="FFFFFF"/>
              </a:solidFill>
            </a:endParaRPr>
          </a:p>
        </p:txBody>
      </p:sp>
    </p:spTree>
    <p:extLst>
      <p:ext uri="{BB962C8B-B14F-4D97-AF65-F5344CB8AC3E}">
        <p14:creationId xmlns:p14="http://schemas.microsoft.com/office/powerpoint/2010/main" val="2841488563"/>
      </p:ext>
    </p:extLst>
  </p:cSld>
  <p:clrMap bg1="lt1" tx1="dk1" bg2="lt2" tx2="dk2" accent1="accent1" accent2="accent2" accent3="accent3" accent4="accent4" accent5="accent5" accent6="accent6" hlink="hlink" folHlink="folHlink"/>
  <p:sldLayoutIdLst>
    <p:sldLayoutId id="2147483689" r:id="rId1"/>
  </p:sldLayoutIdLst>
  <p:hf sldNum="0" hdr="0" ftr="0" dt="0"/>
  <p:txStyles>
    <p:titleStyle>
      <a:lvl1pPr algn="ctr" defTabSz="457200" rtl="0" eaLnBrk="0" fontAlgn="base" hangingPunct="0">
        <a:spcBef>
          <a:spcPct val="0"/>
        </a:spcBef>
        <a:spcAft>
          <a:spcPct val="0"/>
        </a:spcAft>
        <a:defRPr sz="2800" kern="1200">
          <a:solidFill>
            <a:schemeClr val="tx1"/>
          </a:solidFill>
          <a:latin typeface="+mj-lt"/>
          <a:ea typeface="ＭＳ Ｐゴシック" pitchFamily="51" charset="-128"/>
          <a:cs typeface="ＭＳ Ｐゴシック" pitchFamily="51" charset="-128"/>
        </a:defRPr>
      </a:lvl1pPr>
      <a:lvl2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2pPr>
      <a:lvl3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3pPr>
      <a:lvl4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4pPr>
      <a:lvl5pPr algn="ctr" defTabSz="457200" rtl="0" eaLnBrk="0" fontAlgn="base" hangingPunct="0">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5pPr>
      <a:lvl6pPr marL="4572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6pPr>
      <a:lvl7pPr marL="9144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7pPr>
      <a:lvl8pPr marL="13716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8pPr>
      <a:lvl9pPr marL="1828800" algn="ctr" defTabSz="457200" rtl="0" fontAlgn="base">
        <a:spcBef>
          <a:spcPct val="0"/>
        </a:spcBef>
        <a:spcAft>
          <a:spcPct val="0"/>
        </a:spcAft>
        <a:defRPr sz="2800">
          <a:solidFill>
            <a:schemeClr val="tx1"/>
          </a:solidFill>
          <a:latin typeface="Arial Narrow" pitchFamily="51" charset="0"/>
          <a:ea typeface="ＭＳ Ｐゴシック" pitchFamily="51" charset="-128"/>
          <a:cs typeface="ＭＳ Ｐゴシック" pitchFamily="51" charset="-128"/>
        </a:defRPr>
      </a:lvl9pPr>
    </p:titleStyle>
    <p:bodyStyle>
      <a:lvl1pPr marL="342900" indent="-342900" algn="l" defTabSz="457200" rtl="0" eaLnBrk="0" fontAlgn="base" hangingPunct="0">
        <a:spcBef>
          <a:spcPct val="20000"/>
        </a:spcBef>
        <a:spcAft>
          <a:spcPct val="0"/>
        </a:spcAft>
        <a:buClr>
          <a:srgbClr val="107B41"/>
        </a:buClr>
        <a:buFont typeface="Arial" charset="0"/>
        <a:buChar char="•"/>
        <a:defRPr sz="2800" kern="1200">
          <a:solidFill>
            <a:schemeClr val="accent1"/>
          </a:solidFill>
          <a:latin typeface="+mn-lt"/>
          <a:ea typeface="ＭＳ Ｐゴシック" pitchFamily="51" charset="-128"/>
          <a:cs typeface="ＭＳ Ｐゴシック" pitchFamily="51" charset="-128"/>
        </a:defRPr>
      </a:lvl1pPr>
      <a:lvl2pPr marL="742950" indent="-285750" algn="l" defTabSz="457200" rtl="0" eaLnBrk="0" fontAlgn="base" hangingPunct="0">
        <a:spcBef>
          <a:spcPct val="20000"/>
        </a:spcBef>
        <a:spcAft>
          <a:spcPct val="0"/>
        </a:spcAft>
        <a:buClr>
          <a:srgbClr val="107B41"/>
        </a:buClr>
        <a:buFont typeface="Arial" charset="0"/>
        <a:buChar char="–"/>
        <a:defRPr sz="2400" kern="1200">
          <a:solidFill>
            <a:schemeClr val="accent1"/>
          </a:solidFill>
          <a:latin typeface="+mn-lt"/>
          <a:ea typeface="ＭＳ Ｐゴシック" pitchFamily="51" charset="-128"/>
          <a:cs typeface="+mn-cs"/>
        </a:defRPr>
      </a:lvl2pPr>
      <a:lvl3pPr marL="1143000" indent="-228600" algn="l" defTabSz="457200" rtl="0" eaLnBrk="0" fontAlgn="base" hangingPunct="0">
        <a:spcBef>
          <a:spcPct val="20000"/>
        </a:spcBef>
        <a:spcAft>
          <a:spcPct val="0"/>
        </a:spcAft>
        <a:buClr>
          <a:srgbClr val="107B41"/>
        </a:buClr>
        <a:buFont typeface="Arial" charset="0"/>
        <a:buChar char="•"/>
        <a:defRPr sz="2000" kern="1200">
          <a:solidFill>
            <a:schemeClr val="accent1"/>
          </a:solidFill>
          <a:latin typeface="+mn-lt"/>
          <a:ea typeface="ＭＳ Ｐゴシック" pitchFamily="51" charset="-128"/>
          <a:cs typeface="+mn-cs"/>
        </a:defRPr>
      </a:lvl3pPr>
      <a:lvl4pPr marL="1600200" indent="-228600" algn="l" defTabSz="457200" rtl="0" eaLnBrk="0" fontAlgn="base" hangingPunct="0">
        <a:spcBef>
          <a:spcPct val="20000"/>
        </a:spcBef>
        <a:spcAft>
          <a:spcPct val="0"/>
        </a:spcAft>
        <a:buClr>
          <a:srgbClr val="107B41"/>
        </a:buClr>
        <a:buFont typeface="Arial" charset="0"/>
        <a:buChar char="–"/>
        <a:defRPr kern="1200">
          <a:solidFill>
            <a:schemeClr val="accent1"/>
          </a:solidFill>
          <a:latin typeface="+mn-lt"/>
          <a:ea typeface="ＭＳ Ｐゴシック" pitchFamily="51" charset="-128"/>
          <a:cs typeface="+mn-cs"/>
        </a:defRPr>
      </a:lvl4pPr>
      <a:lvl5pPr marL="2057400" indent="-228600" algn="l" defTabSz="457200" rtl="0" eaLnBrk="0" fontAlgn="base" hangingPunct="0">
        <a:spcBef>
          <a:spcPct val="20000"/>
        </a:spcBef>
        <a:spcAft>
          <a:spcPct val="0"/>
        </a:spcAft>
        <a:buClr>
          <a:srgbClr val="107B41"/>
        </a:buClr>
        <a:buFont typeface="Arial" charset="0"/>
        <a:buChar char="»"/>
        <a:defRPr kern="1200">
          <a:solidFill>
            <a:schemeClr val="accent1"/>
          </a:solidFill>
          <a:latin typeface="+mn-lt"/>
          <a:ea typeface="ＭＳ Ｐゴシック" pitchFamily="51"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B1030E-0915-4350-910A-59EFCF3C6A91}" type="datetimeFigureOut">
              <a:rPr lang="en-US" smtClean="0">
                <a:solidFill>
                  <a:prstClr val="black">
                    <a:tint val="75000"/>
                  </a:prstClr>
                </a:solidFill>
              </a:rPr>
              <a:pPr/>
              <a:t>6/21/17</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CF3CDE-798C-47E6-B804-BF3C709A42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49037894"/>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15"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hyperlink" Target="https://www.omf.coop/" TargetMode="Externa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1" Type="http://schemas.openxmlformats.org/officeDocument/2006/relationships/slideLayout" Target="../slideLayouts/slideLayout26.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1" Type="http://schemas.openxmlformats.org/officeDocument/2006/relationships/slideLayout" Target="../slideLayouts/slideLayout26.xml"/><Relationship Id="rId2"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0.png"/><Relationship Id="rId1" Type="http://schemas.openxmlformats.org/officeDocument/2006/relationships/slideLayout" Target="../slideLayouts/slideLayout26.xml"/><Relationship Id="rId2"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21.t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1" Type="http://schemas.microsoft.com/office/2007/relationships/hdphoto" Target="../media/hdphoto1.wdp"/><Relationship Id="rId12" Type="http://schemas.openxmlformats.org/officeDocument/2006/relationships/image" Target="../media/image34.jp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6.jpeg"/><Relationship Id="rId4" Type="http://schemas.openxmlformats.org/officeDocument/2006/relationships/image" Target="../media/image27.png"/><Relationship Id="rId5" Type="http://schemas.openxmlformats.org/officeDocument/2006/relationships/image" Target="../media/image28.jpeg"/><Relationship Id="rId6" Type="http://schemas.openxmlformats.org/officeDocument/2006/relationships/image" Target="../media/image29.jpeg"/><Relationship Id="rId7" Type="http://schemas.openxmlformats.org/officeDocument/2006/relationships/image" Target="../media/image30.jpeg"/><Relationship Id="rId8" Type="http://schemas.openxmlformats.org/officeDocument/2006/relationships/image" Target="../media/image31.jpeg"/><Relationship Id="rId9" Type="http://schemas.openxmlformats.org/officeDocument/2006/relationships/image" Target="../media/image32.jpeg"/><Relationship Id="rId10"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dwp0\AppData\Local\Temp\Delphic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905000"/>
            <a:ext cx="3057766" cy="3048000"/>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28600" y="5181600"/>
            <a:ext cx="5334000" cy="707886"/>
          </a:xfrm>
          <a:prstGeom prst="rect">
            <a:avLst/>
          </a:prstGeom>
          <a:noFill/>
        </p:spPr>
        <p:txBody>
          <a:bodyPr wrap="square" rtlCol="0">
            <a:spAutoFit/>
          </a:bodyPr>
          <a:lstStyle/>
          <a:p>
            <a:pPr algn="ctr"/>
            <a:r>
              <a:rPr lang="en-US" sz="2000" dirty="0" smtClean="0">
                <a:solidFill>
                  <a:schemeClr val="bg1">
                    <a:lumMod val="65000"/>
                  </a:schemeClr>
                </a:solidFill>
              </a:rPr>
              <a:t>By </a:t>
            </a:r>
            <a:r>
              <a:rPr lang="en-US" sz="2000" dirty="0" err="1" smtClean="0">
                <a:solidFill>
                  <a:schemeClr val="bg1">
                    <a:lumMod val="65000"/>
                  </a:schemeClr>
                </a:solidFill>
              </a:rPr>
              <a:t>David.Pinney@NRECA.coop</a:t>
            </a:r>
            <a:endParaRPr lang="en-US" sz="2000" dirty="0" smtClean="0">
              <a:solidFill>
                <a:schemeClr val="bg1">
                  <a:lumMod val="65000"/>
                </a:schemeClr>
              </a:solidFill>
            </a:endParaRPr>
          </a:p>
          <a:p>
            <a:pPr algn="ctr"/>
            <a:r>
              <a:rPr lang="en-US" sz="2000" dirty="0" smtClean="0">
                <a:solidFill>
                  <a:schemeClr val="bg1">
                    <a:lumMod val="65000"/>
                  </a:schemeClr>
                </a:solidFill>
              </a:rPr>
              <a:t>Last </a:t>
            </a:r>
            <a:r>
              <a:rPr lang="en-US" sz="2000" dirty="0" smtClean="0">
                <a:solidFill>
                  <a:schemeClr val="bg1">
                    <a:lumMod val="65000"/>
                  </a:schemeClr>
                </a:solidFill>
              </a:rPr>
              <a:t>update 21 June 2017</a:t>
            </a:r>
            <a:endParaRPr lang="en-US" sz="2000" dirty="0">
              <a:solidFill>
                <a:schemeClr val="bg1">
                  <a:lumMod val="65000"/>
                </a:schemeClr>
              </a:solidFill>
            </a:endParaRPr>
          </a:p>
        </p:txBody>
      </p:sp>
      <p:sp>
        <p:nvSpPr>
          <p:cNvPr id="2" name="Title 1"/>
          <p:cNvSpPr>
            <a:spLocks noGrp="1"/>
          </p:cNvSpPr>
          <p:nvPr>
            <p:ph type="ctrTitle"/>
          </p:nvPr>
        </p:nvSpPr>
        <p:spPr>
          <a:xfrm>
            <a:off x="457200" y="1981200"/>
            <a:ext cx="4800600" cy="2658148"/>
          </a:xfrm>
        </p:spPr>
        <p:txBody>
          <a:bodyPr>
            <a:noAutofit/>
          </a:bodyPr>
          <a:lstStyle/>
          <a:p>
            <a:pPr rtl="0" eaLnBrk="1" latinLnBrk="0" hangingPunct="1"/>
            <a:r>
              <a:rPr lang="en-US" sz="6000" kern="1200" dirty="0" smtClean="0">
                <a:solidFill>
                  <a:srgbClr val="000000"/>
                </a:solidFill>
                <a:effectLst/>
                <a:latin typeface="Calibri"/>
              </a:rPr>
              <a:t>Open Modeling Framework</a:t>
            </a:r>
            <a:endParaRPr lang="en-US" sz="6000" dirty="0" smtClean="0">
              <a:effectLst/>
            </a:endParaRPr>
          </a:p>
        </p:txBody>
      </p:sp>
    </p:spTree>
    <p:extLst>
      <p:ext uri="{BB962C8B-B14F-4D97-AF65-F5344CB8AC3E}">
        <p14:creationId xmlns:p14="http://schemas.microsoft.com/office/powerpoint/2010/main" val="25803118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41"/>
          <p:cNvSpPr/>
          <p:nvPr/>
        </p:nvSpPr>
        <p:spPr>
          <a:xfrm>
            <a:off x="1362338" y="376599"/>
            <a:ext cx="6419322" cy="461601"/>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p>
            <a:pPr lvl="0">
              <a:defRPr sz="1800"/>
            </a:pPr>
            <a:r>
              <a:rPr lang="en-US" sz="2531" dirty="0" smtClean="0"/>
              <a:t>The OMF is a website, </a:t>
            </a:r>
            <a:r>
              <a:rPr lang="en-US" sz="2531" dirty="0" smtClean="0">
                <a:hlinkClick r:id="rId2"/>
              </a:rPr>
              <a:t>https://www.omf.coop/</a:t>
            </a:r>
            <a:r>
              <a:rPr lang="en-US" sz="2531" dirty="0" smtClean="0"/>
              <a:t>...</a:t>
            </a:r>
            <a:endParaRPr sz="2531" dirty="0"/>
          </a:p>
        </p:txBody>
      </p:sp>
      <p:pic>
        <p:nvPicPr>
          <p:cNvPr id="42" name="pasted-image.png"/>
          <p:cNvPicPr/>
          <p:nvPr/>
        </p:nvPicPr>
        <p:blipFill>
          <a:blip r:embed="rId3">
            <a:extLst/>
          </a:blip>
          <a:stretch>
            <a:fillRect/>
          </a:stretch>
        </p:blipFill>
        <p:spPr>
          <a:xfrm>
            <a:off x="-1" y="1009672"/>
            <a:ext cx="9144001" cy="5856640"/>
          </a:xfrm>
          <a:prstGeom prst="rect">
            <a:avLst/>
          </a:prstGeom>
          <a:ln w="12700">
            <a:miter lim="400000"/>
          </a:ln>
        </p:spPr>
      </p:pic>
    </p:spTree>
    <p:extLst>
      <p:ext uri="{BB962C8B-B14F-4D97-AF65-F5344CB8AC3E}">
        <p14:creationId xmlns:p14="http://schemas.microsoft.com/office/powerpoint/2010/main" val="172627311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hape 44"/>
          <p:cNvSpPr/>
          <p:nvPr/>
        </p:nvSpPr>
        <p:spPr>
          <a:xfrm>
            <a:off x="2298546" y="302044"/>
            <a:ext cx="3955571" cy="396712"/>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lvl1pPr>
              <a:defRPr sz="3000"/>
            </a:lvl1pPr>
          </a:lstStyle>
          <a:p>
            <a:pPr lvl="0">
              <a:defRPr sz="1800"/>
            </a:pPr>
            <a:r>
              <a:rPr sz="2109"/>
              <a:t>… that gives you access to models…</a:t>
            </a:r>
          </a:p>
        </p:txBody>
      </p:sp>
      <p:pic>
        <p:nvPicPr>
          <p:cNvPr id="45" name="pasted-image.png"/>
          <p:cNvPicPr/>
          <p:nvPr/>
        </p:nvPicPr>
        <p:blipFill>
          <a:blip r:embed="rId2">
            <a:extLst/>
          </a:blip>
          <a:stretch>
            <a:fillRect/>
          </a:stretch>
        </p:blipFill>
        <p:spPr>
          <a:xfrm>
            <a:off x="63013" y="993052"/>
            <a:ext cx="2854641" cy="2937241"/>
          </a:xfrm>
          <a:prstGeom prst="rect">
            <a:avLst/>
          </a:prstGeom>
          <a:ln w="12700">
            <a:miter lim="400000"/>
          </a:ln>
        </p:spPr>
      </p:pic>
      <p:pic>
        <p:nvPicPr>
          <p:cNvPr id="46" name="pasted-image.png"/>
          <p:cNvPicPr/>
          <p:nvPr/>
        </p:nvPicPr>
        <p:blipFill>
          <a:blip r:embed="rId3">
            <a:extLst/>
          </a:blip>
          <a:stretch>
            <a:fillRect/>
          </a:stretch>
        </p:blipFill>
        <p:spPr>
          <a:xfrm>
            <a:off x="3084027" y="985570"/>
            <a:ext cx="2869184" cy="2952205"/>
          </a:xfrm>
          <a:prstGeom prst="rect">
            <a:avLst/>
          </a:prstGeom>
          <a:ln w="12700">
            <a:miter lim="400000"/>
          </a:ln>
        </p:spPr>
      </p:pic>
      <p:pic>
        <p:nvPicPr>
          <p:cNvPr id="47" name="pasted-image.png"/>
          <p:cNvPicPr/>
          <p:nvPr/>
        </p:nvPicPr>
        <p:blipFill>
          <a:blip r:embed="rId4">
            <a:extLst/>
          </a:blip>
          <a:stretch>
            <a:fillRect/>
          </a:stretch>
        </p:blipFill>
        <p:spPr>
          <a:xfrm>
            <a:off x="6119582" y="985570"/>
            <a:ext cx="2945563" cy="2952205"/>
          </a:xfrm>
          <a:prstGeom prst="rect">
            <a:avLst/>
          </a:prstGeom>
          <a:ln w="12700">
            <a:miter lim="400000"/>
          </a:ln>
        </p:spPr>
      </p:pic>
      <p:pic>
        <p:nvPicPr>
          <p:cNvPr id="48" name="pasted-image.png"/>
          <p:cNvPicPr/>
          <p:nvPr/>
        </p:nvPicPr>
        <p:blipFill>
          <a:blip r:embed="rId5">
            <a:extLst/>
          </a:blip>
          <a:stretch>
            <a:fillRect/>
          </a:stretch>
        </p:blipFill>
        <p:spPr>
          <a:xfrm>
            <a:off x="17552" y="3836286"/>
            <a:ext cx="2945563" cy="2952205"/>
          </a:xfrm>
          <a:prstGeom prst="rect">
            <a:avLst/>
          </a:prstGeom>
          <a:ln w="12700">
            <a:miter lim="400000"/>
          </a:ln>
        </p:spPr>
      </p:pic>
      <p:pic>
        <p:nvPicPr>
          <p:cNvPr id="49" name="pasted-image.png"/>
          <p:cNvPicPr/>
          <p:nvPr/>
        </p:nvPicPr>
        <p:blipFill>
          <a:blip r:embed="rId6">
            <a:extLst/>
          </a:blip>
          <a:stretch>
            <a:fillRect/>
          </a:stretch>
        </p:blipFill>
        <p:spPr>
          <a:xfrm>
            <a:off x="3045837" y="3836286"/>
            <a:ext cx="2945563" cy="2952205"/>
          </a:xfrm>
          <a:prstGeom prst="rect">
            <a:avLst/>
          </a:prstGeom>
          <a:ln w="12700">
            <a:miter lim="400000"/>
          </a:ln>
        </p:spPr>
      </p:pic>
      <p:pic>
        <p:nvPicPr>
          <p:cNvPr id="50" name="pasted-image.png"/>
          <p:cNvPicPr/>
          <p:nvPr/>
        </p:nvPicPr>
        <p:blipFill>
          <a:blip r:embed="rId7">
            <a:extLst/>
          </a:blip>
          <a:stretch>
            <a:fillRect/>
          </a:stretch>
        </p:blipFill>
        <p:spPr>
          <a:xfrm>
            <a:off x="6157771" y="3874562"/>
            <a:ext cx="2869184" cy="2875653"/>
          </a:xfrm>
          <a:prstGeom prst="rect">
            <a:avLst/>
          </a:prstGeom>
          <a:ln w="12700">
            <a:miter lim="400000"/>
          </a:ln>
        </p:spPr>
      </p:pic>
    </p:spTree>
    <p:extLst>
      <p:ext uri="{BB962C8B-B14F-4D97-AF65-F5344CB8AC3E}">
        <p14:creationId xmlns:p14="http://schemas.microsoft.com/office/powerpoint/2010/main" val="96818964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p:nvPr/>
        </p:nvSpPr>
        <p:spPr>
          <a:xfrm>
            <a:off x="58176" y="302044"/>
            <a:ext cx="8338438" cy="396712"/>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lvl1pPr>
              <a:defRPr sz="3000"/>
            </a:lvl1pPr>
          </a:lstStyle>
          <a:p>
            <a:pPr lvl="0">
              <a:defRPr sz="1800"/>
            </a:pPr>
            <a:r>
              <a:rPr sz="2109"/>
              <a:t>… models that help electric utilities answer distribution planning questions.</a:t>
            </a:r>
          </a:p>
        </p:txBody>
      </p:sp>
      <p:pic>
        <p:nvPicPr>
          <p:cNvPr id="53" name="pasted-image-filtered.png"/>
          <p:cNvPicPr/>
          <p:nvPr/>
        </p:nvPicPr>
        <p:blipFill>
          <a:blip r:embed="rId2">
            <a:alphaModFix amt="25000"/>
            <a:extLst/>
          </a:blip>
          <a:stretch>
            <a:fillRect/>
          </a:stretch>
        </p:blipFill>
        <p:spPr>
          <a:xfrm>
            <a:off x="63013" y="993052"/>
            <a:ext cx="2854641" cy="2937241"/>
          </a:xfrm>
          <a:prstGeom prst="rect">
            <a:avLst/>
          </a:prstGeom>
          <a:ln w="12700">
            <a:miter lim="400000"/>
          </a:ln>
        </p:spPr>
      </p:pic>
      <p:pic>
        <p:nvPicPr>
          <p:cNvPr id="54" name="pasted-image-filtered.png"/>
          <p:cNvPicPr/>
          <p:nvPr/>
        </p:nvPicPr>
        <p:blipFill>
          <a:blip r:embed="rId3">
            <a:alphaModFix amt="25000"/>
            <a:extLst/>
          </a:blip>
          <a:stretch>
            <a:fillRect/>
          </a:stretch>
        </p:blipFill>
        <p:spPr>
          <a:xfrm>
            <a:off x="3084027" y="985570"/>
            <a:ext cx="2869184" cy="2952205"/>
          </a:xfrm>
          <a:prstGeom prst="rect">
            <a:avLst/>
          </a:prstGeom>
          <a:ln w="12700">
            <a:miter lim="400000"/>
          </a:ln>
        </p:spPr>
      </p:pic>
      <p:pic>
        <p:nvPicPr>
          <p:cNvPr id="55" name="pasted-image-filtered.png"/>
          <p:cNvPicPr/>
          <p:nvPr/>
        </p:nvPicPr>
        <p:blipFill>
          <a:blip r:embed="rId4">
            <a:alphaModFix amt="25000"/>
            <a:extLst/>
          </a:blip>
          <a:stretch>
            <a:fillRect/>
          </a:stretch>
        </p:blipFill>
        <p:spPr>
          <a:xfrm>
            <a:off x="6119582" y="985570"/>
            <a:ext cx="2945563" cy="2952205"/>
          </a:xfrm>
          <a:prstGeom prst="rect">
            <a:avLst/>
          </a:prstGeom>
          <a:ln w="12700">
            <a:miter lim="400000"/>
          </a:ln>
        </p:spPr>
      </p:pic>
      <p:pic>
        <p:nvPicPr>
          <p:cNvPr id="56" name="pasted-image-filtered.png"/>
          <p:cNvPicPr/>
          <p:nvPr/>
        </p:nvPicPr>
        <p:blipFill>
          <a:blip r:embed="rId5">
            <a:alphaModFix amt="25000"/>
            <a:extLst/>
          </a:blip>
          <a:stretch>
            <a:fillRect/>
          </a:stretch>
        </p:blipFill>
        <p:spPr>
          <a:xfrm>
            <a:off x="17552" y="3836286"/>
            <a:ext cx="2945563" cy="2952205"/>
          </a:xfrm>
          <a:prstGeom prst="rect">
            <a:avLst/>
          </a:prstGeom>
          <a:ln w="12700">
            <a:miter lim="400000"/>
          </a:ln>
        </p:spPr>
      </p:pic>
      <p:pic>
        <p:nvPicPr>
          <p:cNvPr id="57" name="pasted-image-filtered.png"/>
          <p:cNvPicPr/>
          <p:nvPr/>
        </p:nvPicPr>
        <p:blipFill>
          <a:blip r:embed="rId6">
            <a:alphaModFix amt="25000"/>
            <a:extLst/>
          </a:blip>
          <a:stretch>
            <a:fillRect/>
          </a:stretch>
        </p:blipFill>
        <p:spPr>
          <a:xfrm>
            <a:off x="3045837" y="3836286"/>
            <a:ext cx="2945563" cy="2952205"/>
          </a:xfrm>
          <a:prstGeom prst="rect">
            <a:avLst/>
          </a:prstGeom>
          <a:ln w="12700">
            <a:miter lim="400000"/>
          </a:ln>
        </p:spPr>
      </p:pic>
      <p:pic>
        <p:nvPicPr>
          <p:cNvPr id="58" name="pasted-image-filtered.png"/>
          <p:cNvPicPr/>
          <p:nvPr/>
        </p:nvPicPr>
        <p:blipFill>
          <a:blip r:embed="rId7">
            <a:alphaModFix amt="25000"/>
            <a:extLst/>
          </a:blip>
          <a:stretch>
            <a:fillRect/>
          </a:stretch>
        </p:blipFill>
        <p:spPr>
          <a:xfrm>
            <a:off x="6157771" y="3874562"/>
            <a:ext cx="2869184" cy="2875653"/>
          </a:xfrm>
          <a:prstGeom prst="rect">
            <a:avLst/>
          </a:prstGeom>
          <a:ln w="12700">
            <a:miter lim="400000"/>
          </a:ln>
        </p:spPr>
      </p:pic>
      <p:sp>
        <p:nvSpPr>
          <p:cNvPr id="59" name="Shape 59"/>
          <p:cNvSpPr/>
          <p:nvPr/>
        </p:nvSpPr>
        <p:spPr>
          <a:xfrm>
            <a:off x="499085" y="1877538"/>
            <a:ext cx="1982498" cy="1168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700" b="1">
                <a:latin typeface="Helvetica"/>
                <a:ea typeface="Helvetica"/>
                <a:cs typeface="Helvetica"/>
                <a:sym typeface="Helvetica"/>
              </a:defRPr>
            </a:lvl1pPr>
          </a:lstStyle>
          <a:p>
            <a:pPr lvl="0">
              <a:defRPr sz="1800" b="0"/>
            </a:pPr>
            <a:r>
              <a:rPr sz="1898"/>
              <a:t>solarFinancial: how much does utility-owned solar cost?</a:t>
            </a:r>
          </a:p>
        </p:txBody>
      </p:sp>
      <p:sp>
        <p:nvSpPr>
          <p:cNvPr id="60" name="Shape 60"/>
          <p:cNvSpPr/>
          <p:nvPr/>
        </p:nvSpPr>
        <p:spPr>
          <a:xfrm>
            <a:off x="3428947" y="1585471"/>
            <a:ext cx="2179344" cy="175240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700" b="1">
                <a:latin typeface="Helvetica"/>
                <a:ea typeface="Helvetica"/>
                <a:cs typeface="Helvetica"/>
                <a:sym typeface="Helvetica"/>
              </a:defRPr>
            </a:lvl1pPr>
          </a:lstStyle>
          <a:p>
            <a:pPr lvl="0">
              <a:defRPr sz="1800" b="0"/>
            </a:pPr>
            <a:r>
              <a:rPr sz="1898"/>
              <a:t>solarEngineering: how big are the voltage and  reverse power flow effects of distribution-connected solar?</a:t>
            </a:r>
          </a:p>
        </p:txBody>
      </p:sp>
      <p:sp>
        <p:nvSpPr>
          <p:cNvPr id="61" name="Shape 61"/>
          <p:cNvSpPr/>
          <p:nvPr/>
        </p:nvSpPr>
        <p:spPr>
          <a:xfrm>
            <a:off x="6555654" y="1877538"/>
            <a:ext cx="1982498" cy="1168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700" b="1">
                <a:latin typeface="Helvetica"/>
                <a:ea typeface="Helvetica"/>
                <a:cs typeface="Helvetica"/>
                <a:sym typeface="Helvetica"/>
              </a:defRPr>
            </a:lvl1pPr>
          </a:lstStyle>
          <a:p>
            <a:pPr lvl="0">
              <a:defRPr sz="1800" b="0"/>
            </a:pPr>
            <a:r>
              <a:rPr sz="1898"/>
              <a:t>solarRates: how does rooftop solar impact utility and consumer costs?</a:t>
            </a:r>
          </a:p>
        </p:txBody>
      </p:sp>
      <p:sp>
        <p:nvSpPr>
          <p:cNvPr id="62" name="Shape 62"/>
          <p:cNvSpPr/>
          <p:nvPr/>
        </p:nvSpPr>
        <p:spPr>
          <a:xfrm>
            <a:off x="499085" y="4642482"/>
            <a:ext cx="1982498" cy="1168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700" b="1">
                <a:latin typeface="Helvetica"/>
                <a:ea typeface="Helvetica"/>
                <a:cs typeface="Helvetica"/>
                <a:sym typeface="Helvetica"/>
              </a:defRPr>
            </a:lvl1pPr>
          </a:lstStyle>
          <a:p>
            <a:pPr lvl="0">
              <a:defRPr sz="1800" b="0"/>
            </a:pPr>
            <a:r>
              <a:rPr sz="1898"/>
              <a:t>voltageDrop: will a new load push voltages outside of legal limits?</a:t>
            </a:r>
          </a:p>
        </p:txBody>
      </p:sp>
      <p:sp>
        <p:nvSpPr>
          <p:cNvPr id="63" name="Shape 63"/>
          <p:cNvSpPr/>
          <p:nvPr/>
        </p:nvSpPr>
        <p:spPr>
          <a:xfrm>
            <a:off x="3527370" y="4582221"/>
            <a:ext cx="1982498" cy="14603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700" b="1">
                <a:latin typeface="Helvetica"/>
                <a:ea typeface="Helvetica"/>
                <a:cs typeface="Helvetica"/>
                <a:sym typeface="Helvetica"/>
              </a:defRPr>
            </a:lvl1pPr>
          </a:lstStyle>
          <a:p>
            <a:pPr lvl="0">
              <a:defRPr sz="1800" b="0"/>
            </a:pPr>
            <a:r>
              <a:rPr sz="1898"/>
              <a:t>cvrStatic: does conservation voltage reduction pay off for a given feeder?</a:t>
            </a:r>
          </a:p>
        </p:txBody>
      </p:sp>
      <p:sp>
        <p:nvSpPr>
          <p:cNvPr id="64" name="Shape 64"/>
          <p:cNvSpPr/>
          <p:nvPr/>
        </p:nvSpPr>
        <p:spPr>
          <a:xfrm>
            <a:off x="6601114" y="4874287"/>
            <a:ext cx="1982498" cy="8762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700" b="1">
                <a:latin typeface="Helvetica"/>
                <a:ea typeface="Helvetica"/>
                <a:cs typeface="Helvetica"/>
                <a:sym typeface="Helvetica"/>
              </a:defRPr>
            </a:lvl1pPr>
          </a:lstStyle>
          <a:p>
            <a:pPr lvl="0">
              <a:defRPr sz="1800" b="0"/>
            </a:pPr>
            <a:r>
              <a:rPr sz="1898"/>
              <a:t>gridlabMulti: simulate  everything…?</a:t>
            </a:r>
          </a:p>
        </p:txBody>
      </p:sp>
    </p:spTree>
    <p:extLst>
      <p:ext uri="{BB962C8B-B14F-4D97-AF65-F5344CB8AC3E}">
        <p14:creationId xmlns:p14="http://schemas.microsoft.com/office/powerpoint/2010/main" val="87971977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hape 66"/>
          <p:cNvSpPr/>
          <p:nvPr/>
        </p:nvSpPr>
        <p:spPr>
          <a:xfrm>
            <a:off x="1929044" y="319116"/>
            <a:ext cx="4940520" cy="461601"/>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p>
            <a:pPr lvl="0">
              <a:defRPr sz="1800"/>
            </a:pPr>
            <a:r>
              <a:rPr sz="2531"/>
              <a:t>There’s documentation and tutorials.</a:t>
            </a:r>
          </a:p>
        </p:txBody>
      </p:sp>
      <p:pic>
        <p:nvPicPr>
          <p:cNvPr id="67" name="pasted-image.png"/>
          <p:cNvPicPr/>
          <p:nvPr/>
        </p:nvPicPr>
        <p:blipFill>
          <a:blip r:embed="rId2">
            <a:extLst/>
          </a:blip>
          <a:stretch>
            <a:fillRect/>
          </a:stretch>
        </p:blipFill>
        <p:spPr>
          <a:xfrm>
            <a:off x="0" y="1009672"/>
            <a:ext cx="9144001" cy="5856640"/>
          </a:xfrm>
          <a:prstGeom prst="rect">
            <a:avLst/>
          </a:prstGeom>
          <a:ln w="12700">
            <a:miter lim="400000"/>
          </a:ln>
        </p:spPr>
      </p:pic>
    </p:spTree>
    <p:extLst>
      <p:ext uri="{BB962C8B-B14F-4D97-AF65-F5344CB8AC3E}">
        <p14:creationId xmlns:p14="http://schemas.microsoft.com/office/powerpoint/2010/main" val="253488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asted-image.png"/>
          <p:cNvPicPr/>
          <p:nvPr/>
        </p:nvPicPr>
        <p:blipFill>
          <a:blip r:embed="rId2">
            <a:extLst/>
          </a:blip>
          <a:stretch>
            <a:fillRect/>
          </a:stretch>
        </p:blipFill>
        <p:spPr>
          <a:xfrm>
            <a:off x="-1" y="1009672"/>
            <a:ext cx="6996627" cy="4481269"/>
          </a:xfrm>
          <a:prstGeom prst="rect">
            <a:avLst/>
          </a:prstGeom>
          <a:ln w="12700">
            <a:miter lim="400000"/>
          </a:ln>
        </p:spPr>
      </p:pic>
      <p:sp>
        <p:nvSpPr>
          <p:cNvPr id="79" name="Shape 79"/>
          <p:cNvSpPr/>
          <p:nvPr/>
        </p:nvSpPr>
        <p:spPr>
          <a:xfrm>
            <a:off x="1595055" y="304133"/>
            <a:ext cx="6139759" cy="461601"/>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p>
            <a:pPr lvl="0">
              <a:defRPr sz="1800"/>
            </a:pPr>
            <a:r>
              <a:rPr lang="en-US" sz="2531" dirty="0" smtClean="0"/>
              <a:t>Utilities, vendors and researchers are using it</a:t>
            </a:r>
            <a:r>
              <a:rPr sz="2531" dirty="0" smtClean="0"/>
              <a:t>.</a:t>
            </a:r>
            <a:endParaRPr sz="2531" dirty="0"/>
          </a:p>
        </p:txBody>
      </p:sp>
      <p:sp>
        <p:nvSpPr>
          <p:cNvPr id="80" name="Shape 80"/>
          <p:cNvSpPr/>
          <p:nvPr/>
        </p:nvSpPr>
        <p:spPr>
          <a:xfrm>
            <a:off x="7400084" y="304134"/>
            <a:ext cx="1538800" cy="1393223"/>
          </a:xfrm>
          <a:prstGeom prst="star16">
            <a:avLst>
              <a:gd name="adj" fmla="val 40337"/>
            </a:avLst>
          </a:prstGeom>
          <a:solidFill>
            <a:srgbClr val="0365C0"/>
          </a:solidFill>
          <a:ln w="12700">
            <a:miter lim="400000"/>
          </a:ln>
          <a:extLst>
            <a:ext uri="{C572A759-6A51-4108-AA02-DFA0A04FC94B}">
              <ma14:wrappingTextBoxFlag xmlns:ma14="http://schemas.microsoft.com/office/mac/drawingml/2011/main" val="1"/>
            </a:ext>
          </a:extLst>
        </p:spPr>
        <p:txBody>
          <a:bodyPr lIns="0" tIns="0" rIns="0" bIns="0" anchor="ctr"/>
          <a:lstStyle>
            <a:lvl1pPr>
              <a:defRPr sz="2400">
                <a:solidFill>
                  <a:srgbClr val="FFFFFF"/>
                </a:solidFill>
              </a:defRPr>
            </a:lvl1pPr>
          </a:lstStyle>
          <a:p>
            <a:pPr lvl="0">
              <a:defRPr sz="1800">
                <a:solidFill>
                  <a:srgbClr val="000000"/>
                </a:solidFill>
              </a:defRPr>
            </a:pPr>
            <a:r>
              <a:rPr lang="en-US" sz="984" dirty="0" smtClean="0">
                <a:solidFill>
                  <a:schemeClr val="bg1"/>
                </a:solidFill>
              </a:rPr>
              <a:t>Users from 176 different </a:t>
            </a:r>
            <a:r>
              <a:rPr lang="en-US" sz="984" dirty="0" smtClean="0">
                <a:solidFill>
                  <a:schemeClr val="bg1"/>
                </a:solidFill>
              </a:rPr>
              <a:t>organizations as of 20 June 2017</a:t>
            </a:r>
            <a:endParaRPr sz="984" dirty="0">
              <a:solidFill>
                <a:schemeClr val="bg1"/>
              </a:solidFill>
            </a:endParaRPr>
          </a:p>
        </p:txBody>
      </p:sp>
      <p:pic>
        <p:nvPicPr>
          <p:cNvPr id="81" name="pasted-image.png"/>
          <p:cNvPicPr/>
          <p:nvPr/>
        </p:nvPicPr>
        <p:blipFill>
          <a:blip r:embed="rId3">
            <a:extLst/>
          </a:blip>
          <a:stretch>
            <a:fillRect/>
          </a:stretch>
        </p:blipFill>
        <p:spPr>
          <a:xfrm>
            <a:off x="738187" y="1697358"/>
            <a:ext cx="6996627" cy="4481269"/>
          </a:xfrm>
          <a:prstGeom prst="rect">
            <a:avLst/>
          </a:prstGeom>
          <a:ln w="12700">
            <a:miter lim="400000"/>
          </a:ln>
        </p:spPr>
      </p:pic>
      <p:pic>
        <p:nvPicPr>
          <p:cNvPr id="82" name="pasted-image.png"/>
          <p:cNvPicPr/>
          <p:nvPr/>
        </p:nvPicPr>
        <p:blipFill>
          <a:blip r:embed="rId4">
            <a:extLst/>
          </a:blip>
          <a:stretch>
            <a:fillRect/>
          </a:stretch>
        </p:blipFill>
        <p:spPr>
          <a:xfrm>
            <a:off x="2138949" y="2512836"/>
            <a:ext cx="6996627" cy="4481269"/>
          </a:xfrm>
          <a:prstGeom prst="rect">
            <a:avLst/>
          </a:prstGeom>
          <a:ln w="12700">
            <a:miter lim="400000"/>
          </a:ln>
        </p:spPr>
      </p:pic>
    </p:spTree>
    <p:extLst>
      <p:ext uri="{BB962C8B-B14F-4D97-AF65-F5344CB8AC3E}">
        <p14:creationId xmlns:p14="http://schemas.microsoft.com/office/powerpoint/2010/main" val="83602370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p:nvPr/>
        </p:nvSpPr>
        <p:spPr>
          <a:xfrm>
            <a:off x="1174948" y="304800"/>
            <a:ext cx="6794104" cy="461601"/>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p>
            <a:pPr lvl="0">
              <a:defRPr sz="1800"/>
            </a:pPr>
            <a:r>
              <a:rPr sz="2531"/>
              <a:t>Why was it built? </a:t>
            </a:r>
            <a:r>
              <a:rPr sz="2531" dirty="0"/>
              <a:t>It was needed for ARRA research.</a:t>
            </a:r>
          </a:p>
        </p:txBody>
      </p:sp>
      <p:pic>
        <p:nvPicPr>
          <p:cNvPr id="85" name="pasted-image.tif"/>
          <p:cNvPicPr/>
          <p:nvPr/>
        </p:nvPicPr>
        <p:blipFill>
          <a:blip r:embed="rId3">
            <a:extLst/>
          </a:blip>
          <a:stretch>
            <a:fillRect/>
          </a:stretch>
        </p:blipFill>
        <p:spPr>
          <a:xfrm>
            <a:off x="2371926" y="1518387"/>
            <a:ext cx="4400148" cy="4400148"/>
          </a:xfrm>
          <a:prstGeom prst="rect">
            <a:avLst/>
          </a:prstGeom>
          <a:ln w="12700">
            <a:miter lim="400000"/>
          </a:ln>
        </p:spPr>
      </p:pic>
    </p:spTree>
    <p:extLst>
      <p:ext uri="{BB962C8B-B14F-4D97-AF65-F5344CB8AC3E}">
        <p14:creationId xmlns:p14="http://schemas.microsoft.com/office/powerpoint/2010/main" val="6489080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hape 89"/>
          <p:cNvSpPr/>
          <p:nvPr/>
        </p:nvSpPr>
        <p:spPr>
          <a:xfrm>
            <a:off x="374258" y="381000"/>
            <a:ext cx="8404032" cy="440057"/>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lvl1pPr>
              <a:defRPr sz="3400"/>
            </a:lvl1pPr>
          </a:lstStyle>
          <a:p>
            <a:pPr lvl="0">
              <a:defRPr sz="1800"/>
            </a:pPr>
            <a:r>
              <a:rPr sz="2391"/>
              <a:t>Researchers like our full vision: a framework to support all models. </a:t>
            </a:r>
          </a:p>
        </p:txBody>
      </p:sp>
      <p:sp>
        <p:nvSpPr>
          <p:cNvPr id="90" name="Shape 90"/>
          <p:cNvSpPr/>
          <p:nvPr/>
        </p:nvSpPr>
        <p:spPr>
          <a:xfrm>
            <a:off x="910003" y="2484061"/>
            <a:ext cx="7332543" cy="3858261"/>
          </a:xfrm>
          <a:prstGeom prst="rect">
            <a:avLst/>
          </a:prstGeom>
          <a:solidFill>
            <a:srgbClr val="53585F"/>
          </a:solidFill>
          <a:ln w="12700">
            <a:miter lim="400000"/>
          </a:ln>
          <a:extLst>
            <a:ext uri="{C572A759-6A51-4108-AA02-DFA0A04FC94B}">
              <ma14:wrappingTextBoxFlag xmlns:ma14="http://schemas.microsoft.com/office/mac/drawingml/2011/main" val="1"/>
            </a:ext>
          </a:extLst>
        </p:spPr>
        <p:txBody>
          <a:bodyPr lIns="0" tIns="0" rIns="0" bIns="0" anchor="ctr"/>
          <a:lstStyle>
            <a:lvl1pPr>
              <a:defRPr sz="6400">
                <a:solidFill>
                  <a:srgbClr val="FFFFFF"/>
                </a:solidFill>
              </a:defRPr>
            </a:lvl1pPr>
          </a:lstStyle>
          <a:p>
            <a:pPr lvl="0" algn="ctr">
              <a:defRPr sz="1800">
                <a:solidFill>
                  <a:srgbClr val="000000"/>
                </a:solidFill>
              </a:defRPr>
            </a:pPr>
            <a:r>
              <a:rPr sz="4500"/>
              <a:t>OMF</a:t>
            </a:r>
          </a:p>
        </p:txBody>
      </p:sp>
      <p:sp>
        <p:nvSpPr>
          <p:cNvPr id="91" name="Shape 91"/>
          <p:cNvSpPr/>
          <p:nvPr/>
        </p:nvSpPr>
        <p:spPr>
          <a:xfrm>
            <a:off x="901222" y="1533663"/>
            <a:ext cx="892969" cy="892969"/>
          </a:xfrm>
          <a:prstGeom prst="rect">
            <a:avLst/>
          </a:prstGeom>
          <a:solidFill>
            <a:srgbClr val="773F9B"/>
          </a:solidFill>
          <a:ln w="12700">
            <a:miter lim="400000"/>
          </a:ln>
          <a:extLst>
            <a:ext uri="{C572A759-6A51-4108-AA02-DFA0A04FC94B}">
              <ma14:wrappingTextBoxFlag xmlns:ma14="http://schemas.microsoft.com/office/mac/drawingml/2011/main" val="1"/>
            </a:ext>
          </a:extLst>
        </p:spPr>
        <p:txBody>
          <a:bodyPr lIns="0" tIns="0" rIns="0" bIns="0" anchor="ctr"/>
          <a:lstStyle>
            <a:lvl1pPr>
              <a:defRPr sz="2400">
                <a:solidFill>
                  <a:srgbClr val="FFFFFF"/>
                </a:solidFill>
              </a:defRPr>
            </a:lvl1pPr>
          </a:lstStyle>
          <a:p>
            <a:pPr lvl="0" algn="ctr">
              <a:defRPr sz="1800">
                <a:solidFill>
                  <a:srgbClr val="000000"/>
                </a:solidFill>
              </a:defRPr>
            </a:pPr>
            <a:r>
              <a:rPr sz="1687"/>
              <a:t>Model</a:t>
            </a:r>
          </a:p>
        </p:txBody>
      </p:sp>
      <p:sp>
        <p:nvSpPr>
          <p:cNvPr id="92" name="Shape 92"/>
          <p:cNvSpPr/>
          <p:nvPr/>
        </p:nvSpPr>
        <p:spPr>
          <a:xfrm>
            <a:off x="3078541" y="1533663"/>
            <a:ext cx="892969" cy="892969"/>
          </a:xfrm>
          <a:prstGeom prst="rect">
            <a:avLst/>
          </a:prstGeom>
          <a:solidFill>
            <a:srgbClr val="00882B"/>
          </a:solidFill>
          <a:ln w="12700">
            <a:miter lim="400000"/>
          </a:ln>
          <a:extLst>
            <a:ext uri="{C572A759-6A51-4108-AA02-DFA0A04FC94B}">
              <ma14:wrappingTextBoxFlag xmlns:ma14="http://schemas.microsoft.com/office/mac/drawingml/2011/main" val="1"/>
            </a:ext>
          </a:extLst>
        </p:spPr>
        <p:txBody>
          <a:bodyPr lIns="0" tIns="0" rIns="0" bIns="0" anchor="ctr"/>
          <a:lstStyle>
            <a:lvl1pPr>
              <a:defRPr sz="2400">
                <a:solidFill>
                  <a:srgbClr val="FFFFFF"/>
                </a:solidFill>
              </a:defRPr>
            </a:lvl1pPr>
          </a:lstStyle>
          <a:p>
            <a:pPr lvl="0" algn="ctr">
              <a:defRPr sz="1800">
                <a:solidFill>
                  <a:srgbClr val="000000"/>
                </a:solidFill>
              </a:defRPr>
            </a:pPr>
            <a:r>
              <a:rPr sz="1687"/>
              <a:t>Model</a:t>
            </a:r>
          </a:p>
        </p:txBody>
      </p:sp>
      <p:sp>
        <p:nvSpPr>
          <p:cNvPr id="93" name="Shape 93"/>
          <p:cNvSpPr/>
          <p:nvPr/>
        </p:nvSpPr>
        <p:spPr>
          <a:xfrm>
            <a:off x="1989882" y="1533663"/>
            <a:ext cx="892969" cy="892969"/>
          </a:xfrm>
          <a:prstGeom prst="rect">
            <a:avLst/>
          </a:prstGeom>
          <a:solidFill>
            <a:srgbClr val="DE6A10"/>
          </a:solidFill>
          <a:ln w="12700">
            <a:miter lim="400000"/>
          </a:ln>
          <a:extLst>
            <a:ext uri="{C572A759-6A51-4108-AA02-DFA0A04FC94B}">
              <ma14:wrappingTextBoxFlag xmlns:ma14="http://schemas.microsoft.com/office/mac/drawingml/2011/main" val="1"/>
            </a:ext>
          </a:extLst>
        </p:spPr>
        <p:txBody>
          <a:bodyPr lIns="0" tIns="0" rIns="0" bIns="0" anchor="ctr"/>
          <a:lstStyle>
            <a:lvl1pPr>
              <a:defRPr sz="2400">
                <a:solidFill>
                  <a:srgbClr val="FFFFFF"/>
                </a:solidFill>
              </a:defRPr>
            </a:lvl1pPr>
          </a:lstStyle>
          <a:p>
            <a:pPr lvl="0" algn="ctr">
              <a:defRPr sz="1800">
                <a:solidFill>
                  <a:srgbClr val="000000"/>
                </a:solidFill>
              </a:defRPr>
            </a:pPr>
            <a:r>
              <a:rPr sz="1687"/>
              <a:t>Model</a:t>
            </a:r>
          </a:p>
        </p:txBody>
      </p:sp>
      <p:sp>
        <p:nvSpPr>
          <p:cNvPr id="94" name="Shape 94"/>
          <p:cNvSpPr/>
          <p:nvPr/>
        </p:nvSpPr>
        <p:spPr>
          <a:xfrm>
            <a:off x="7349810" y="1533663"/>
            <a:ext cx="892969" cy="892969"/>
          </a:xfrm>
          <a:prstGeom prst="rect">
            <a:avLst/>
          </a:prstGeom>
          <a:solidFill>
            <a:srgbClr val="C82506"/>
          </a:solidFill>
          <a:ln w="12700">
            <a:miter lim="400000"/>
          </a:ln>
          <a:extLst>
            <a:ext uri="{C572A759-6A51-4108-AA02-DFA0A04FC94B}">
              <ma14:wrappingTextBoxFlag xmlns:ma14="http://schemas.microsoft.com/office/mac/drawingml/2011/main" val="1"/>
            </a:ext>
          </a:extLst>
        </p:spPr>
        <p:txBody>
          <a:bodyPr lIns="0" tIns="0" rIns="0" bIns="0" anchor="ctr"/>
          <a:lstStyle>
            <a:lvl1pPr>
              <a:defRPr sz="2400">
                <a:solidFill>
                  <a:srgbClr val="FFFFFF"/>
                </a:solidFill>
              </a:defRPr>
            </a:lvl1pPr>
          </a:lstStyle>
          <a:p>
            <a:pPr lvl="0" algn="ctr">
              <a:defRPr sz="1800">
                <a:solidFill>
                  <a:srgbClr val="000000"/>
                </a:solidFill>
              </a:defRPr>
            </a:pPr>
            <a:r>
              <a:rPr sz="1687"/>
              <a:t>Model</a:t>
            </a:r>
          </a:p>
        </p:txBody>
      </p:sp>
      <p:sp>
        <p:nvSpPr>
          <p:cNvPr id="95" name="Shape 95"/>
          <p:cNvSpPr/>
          <p:nvPr/>
        </p:nvSpPr>
        <p:spPr>
          <a:xfrm>
            <a:off x="5468672" y="1760119"/>
            <a:ext cx="283732" cy="440057"/>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lvl1pPr>
              <a:defRPr sz="3400"/>
            </a:lvl1pPr>
          </a:lstStyle>
          <a:p>
            <a:pPr lvl="0">
              <a:defRPr sz="1800"/>
            </a:pPr>
            <a:r>
              <a:rPr sz="2391"/>
              <a:t>…</a:t>
            </a:r>
          </a:p>
        </p:txBody>
      </p:sp>
    </p:spTree>
    <p:extLst>
      <p:ext uri="{BB962C8B-B14F-4D97-AF65-F5344CB8AC3E}">
        <p14:creationId xmlns:p14="http://schemas.microsoft.com/office/powerpoint/2010/main" val="4801882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p:nvPr/>
        </p:nvSpPr>
        <p:spPr>
          <a:xfrm>
            <a:off x="3102248" y="307001"/>
            <a:ext cx="2590902" cy="461601"/>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p>
            <a:pPr lvl="0">
              <a:defRPr sz="1800"/>
            </a:pPr>
            <a:r>
              <a:rPr sz="2531" dirty="0"/>
              <a:t>We get good press.</a:t>
            </a:r>
          </a:p>
        </p:txBody>
      </p:sp>
      <p:sp>
        <p:nvSpPr>
          <p:cNvPr id="73" name="Shape 73"/>
          <p:cNvSpPr/>
          <p:nvPr/>
        </p:nvSpPr>
        <p:spPr>
          <a:xfrm>
            <a:off x="598997" y="4584571"/>
            <a:ext cx="8362422" cy="2019592"/>
          </a:xfrm>
          <a:prstGeom prst="rect">
            <a:avLst/>
          </a:prstGeom>
          <a:ln w="12700">
            <a:miter lim="400000"/>
          </a:ln>
          <a:extLst>
            <a:ext uri="{C572A759-6A51-4108-AA02-DFA0A04FC94B}">
              <ma14:wrappingTextBoxFlag xmlns:ma14="http://schemas.microsoft.com/office/mac/drawingml/2011/main" val="1"/>
            </a:ext>
          </a:extLst>
        </p:spPr>
        <p:txBody>
          <a:bodyPr lIns="35719" tIns="35719" rIns="35719" bIns="35719" anchor="ctr">
            <a:spAutoFit/>
          </a:bodyPr>
          <a:lstStyle>
            <a:lvl1pPr>
              <a:defRPr sz="3000" i="1"/>
            </a:lvl1pPr>
          </a:lstStyle>
          <a:p>
            <a:pPr lvl="0">
              <a:defRPr sz="1800" i="0"/>
            </a:pPr>
            <a:r>
              <a:rPr sz="2109" dirty="0"/>
              <a:t>“[GridLAB-D] has always been of limited use to utility users due the complexity of building a simulation model, validating results against field data, and presenting the information effectively and easily. The OMF addresses many of these issues, providing a more productive workflow for utility user.</a:t>
            </a:r>
            <a:r>
              <a:rPr lang="en-US" sz="2109" dirty="0"/>
              <a:t/>
            </a:r>
            <a:br>
              <a:rPr lang="en-US" sz="2109" dirty="0"/>
            </a:br>
            <a:r>
              <a:rPr sz="2109" dirty="0"/>
              <a:t>— PNNL brochure.</a:t>
            </a:r>
          </a:p>
        </p:txBody>
      </p:sp>
      <p:sp>
        <p:nvSpPr>
          <p:cNvPr id="74" name="Shape 74"/>
          <p:cNvSpPr/>
          <p:nvPr/>
        </p:nvSpPr>
        <p:spPr>
          <a:xfrm>
            <a:off x="5402158" y="1744143"/>
            <a:ext cx="3417156" cy="2019592"/>
          </a:xfrm>
          <a:prstGeom prst="rect">
            <a:avLst/>
          </a:prstGeom>
          <a:ln w="12700">
            <a:miter lim="400000"/>
          </a:ln>
          <a:extLst>
            <a:ext uri="{C572A759-6A51-4108-AA02-DFA0A04FC94B}">
              <ma14:wrappingTextBoxFlag xmlns:ma14="http://schemas.microsoft.com/office/mac/drawingml/2011/main" val="1"/>
            </a:ext>
          </a:extLst>
        </p:spPr>
        <p:txBody>
          <a:bodyPr lIns="35719" tIns="35719" rIns="35719" bIns="35719" anchor="ctr">
            <a:spAutoFit/>
          </a:bodyPr>
          <a:lstStyle>
            <a:lvl1pPr>
              <a:defRPr sz="3000" i="1"/>
            </a:lvl1pPr>
          </a:lstStyle>
          <a:p>
            <a:pPr lvl="0">
              <a:defRPr sz="1800" i="0"/>
            </a:pPr>
            <a:r>
              <a:rPr sz="2109" dirty="0"/>
              <a:t>“OMF seems to be a perfect match to demonstrate the smart grid concept especially for power system behaviors in visualized ways.”</a:t>
            </a:r>
            <a:r>
              <a:rPr lang="en-US" sz="2109" dirty="0"/>
              <a:t/>
            </a:r>
            <a:br>
              <a:rPr lang="en-US" sz="2109" dirty="0"/>
            </a:br>
            <a:r>
              <a:rPr sz="2109" dirty="0"/>
              <a:t>— Andrew Kuo, NIST</a:t>
            </a:r>
          </a:p>
        </p:txBody>
      </p:sp>
      <p:sp>
        <p:nvSpPr>
          <p:cNvPr id="75" name="Shape 75"/>
          <p:cNvSpPr/>
          <p:nvPr/>
        </p:nvSpPr>
        <p:spPr>
          <a:xfrm>
            <a:off x="289939" y="3086886"/>
            <a:ext cx="4282061" cy="1045864"/>
          </a:xfrm>
          <a:prstGeom prst="rect">
            <a:avLst/>
          </a:prstGeom>
          <a:ln w="12700">
            <a:miter lim="400000"/>
          </a:ln>
          <a:extLst>
            <a:ext uri="{C572A759-6A51-4108-AA02-DFA0A04FC94B}">
              <ma14:wrappingTextBoxFlag xmlns:ma14="http://schemas.microsoft.com/office/mac/drawingml/2011/main" val="1"/>
            </a:ext>
          </a:extLst>
        </p:spPr>
        <p:txBody>
          <a:bodyPr lIns="35719" tIns="35719" rIns="35719" bIns="35719" anchor="ctr">
            <a:spAutoFit/>
          </a:bodyPr>
          <a:lstStyle>
            <a:lvl1pPr>
              <a:defRPr sz="3000" i="1"/>
            </a:lvl1pPr>
          </a:lstStyle>
          <a:p>
            <a:pPr lvl="0">
              <a:defRPr sz="1800" i="0"/>
            </a:pPr>
            <a:r>
              <a:rPr sz="2109" dirty="0"/>
              <a:t>“You have done a tremendous amount of important work” </a:t>
            </a:r>
            <a:r>
              <a:rPr lang="en-US" sz="1266" dirty="0"/>
              <a:t/>
            </a:r>
            <a:br>
              <a:rPr lang="en-US" sz="1266" dirty="0"/>
            </a:br>
            <a:r>
              <a:rPr sz="2109" dirty="0"/>
              <a:t>— Co-founder, Xendee</a:t>
            </a:r>
          </a:p>
        </p:txBody>
      </p:sp>
      <p:sp>
        <p:nvSpPr>
          <p:cNvPr id="76" name="Shape 76"/>
          <p:cNvSpPr/>
          <p:nvPr/>
        </p:nvSpPr>
        <p:spPr>
          <a:xfrm>
            <a:off x="1072669" y="1096268"/>
            <a:ext cx="3844566" cy="1695016"/>
          </a:xfrm>
          <a:prstGeom prst="rect">
            <a:avLst/>
          </a:prstGeom>
          <a:ln w="12700">
            <a:miter lim="400000"/>
          </a:ln>
          <a:extLst>
            <a:ext uri="{C572A759-6A51-4108-AA02-DFA0A04FC94B}">
              <ma14:wrappingTextBoxFlag xmlns:ma14="http://schemas.microsoft.com/office/mac/drawingml/2011/main" val="1"/>
            </a:ext>
          </a:extLst>
        </p:spPr>
        <p:txBody>
          <a:bodyPr lIns="35719" tIns="35719" rIns="35719" bIns="35719" anchor="ctr">
            <a:spAutoFit/>
          </a:bodyPr>
          <a:lstStyle>
            <a:lvl1pPr>
              <a:defRPr sz="3000" i="1"/>
            </a:lvl1pPr>
          </a:lstStyle>
          <a:p>
            <a:pPr lvl="0">
              <a:defRPr sz="1800" i="0"/>
            </a:pPr>
            <a:r>
              <a:rPr sz="2109" dirty="0"/>
              <a:t>“Please find attached a pre-print and a citation for the paper I wrote that cites your housing script.” </a:t>
            </a:r>
            <a:r>
              <a:rPr lang="en-US" sz="2109" dirty="0"/>
              <a:t/>
            </a:r>
            <a:br>
              <a:rPr lang="en-US" sz="2109" dirty="0"/>
            </a:br>
            <a:r>
              <a:rPr sz="2109" dirty="0"/>
              <a:t>— Tim Hansen, NREL</a:t>
            </a:r>
          </a:p>
        </p:txBody>
      </p:sp>
    </p:spTree>
    <p:extLst>
      <p:ext uri="{BB962C8B-B14F-4D97-AF65-F5344CB8AC3E}">
        <p14:creationId xmlns:p14="http://schemas.microsoft.com/office/powerpoint/2010/main" val="41053248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asted-image.png"/>
          <p:cNvPicPr/>
          <p:nvPr/>
        </p:nvPicPr>
        <p:blipFill>
          <a:blip r:embed="rId2">
            <a:extLst/>
          </a:blip>
          <a:stretch>
            <a:fillRect/>
          </a:stretch>
        </p:blipFill>
        <p:spPr>
          <a:xfrm>
            <a:off x="-1" y="1009672"/>
            <a:ext cx="9144001" cy="5856640"/>
          </a:xfrm>
          <a:prstGeom prst="rect">
            <a:avLst/>
          </a:prstGeom>
          <a:ln w="12700">
            <a:miter lim="400000"/>
          </a:ln>
        </p:spPr>
      </p:pic>
      <p:sp>
        <p:nvSpPr>
          <p:cNvPr id="70" name="Shape 70"/>
          <p:cNvSpPr/>
          <p:nvPr/>
        </p:nvSpPr>
        <p:spPr>
          <a:xfrm>
            <a:off x="591047" y="379336"/>
            <a:ext cx="7073027" cy="440057"/>
          </a:xfrm>
          <a:prstGeom prst="rect">
            <a:avLst/>
          </a:prstGeom>
          <a:ln w="12700">
            <a:miter lim="400000"/>
          </a:ln>
          <a:extLst>
            <a:ext uri="{C572A759-6A51-4108-AA02-DFA0A04FC94B}">
              <ma14:wrappingTextBoxFlag xmlns:ma14="http://schemas.microsoft.com/office/mac/drawingml/2011/main" val="1"/>
            </a:ext>
          </a:extLst>
        </p:spPr>
        <p:txBody>
          <a:bodyPr wrap="none" lIns="35719" tIns="35719" rIns="35719" bIns="35719" anchor="ctr">
            <a:spAutoFit/>
          </a:bodyPr>
          <a:lstStyle>
            <a:lvl1pPr>
              <a:defRPr sz="3400"/>
            </a:lvl1pPr>
          </a:lstStyle>
          <a:p>
            <a:pPr lvl="0">
              <a:defRPr sz="1800"/>
            </a:pPr>
            <a:r>
              <a:rPr sz="2391" dirty="0"/>
              <a:t>The OMF is </a:t>
            </a:r>
            <a:r>
              <a:rPr lang="en-US" sz="2391" dirty="0"/>
              <a:t>an Open Source Project – Others Contribute.</a:t>
            </a:r>
            <a:endParaRPr sz="2391" dirty="0"/>
          </a:p>
        </p:txBody>
      </p:sp>
    </p:spTree>
    <p:extLst>
      <p:ext uri="{BB962C8B-B14F-4D97-AF65-F5344CB8AC3E}">
        <p14:creationId xmlns:p14="http://schemas.microsoft.com/office/powerpoint/2010/main" val="210203484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
            <a:ext cx="6324600" cy="457200"/>
          </a:xfrm>
        </p:spPr>
        <p:txBody>
          <a:bodyPr>
            <a:normAutofit/>
          </a:bodyPr>
          <a:lstStyle/>
          <a:p>
            <a:pPr algn="l"/>
            <a:r>
              <a:rPr lang="en-US" sz="1800" dirty="0">
                <a:solidFill>
                  <a:srgbClr val="000000"/>
                </a:solidFill>
              </a:rPr>
              <a:t>OMF — </a:t>
            </a:r>
            <a:r>
              <a:rPr lang="en-US" sz="1800" b="1" dirty="0" smtClean="0"/>
              <a:t>CVR Peak Demand Reduction</a:t>
            </a:r>
            <a:endParaRPr lang="en-US" sz="1800" b="1" dirty="0"/>
          </a:p>
        </p:txBody>
      </p:sp>
      <p:pic>
        <p:nvPicPr>
          <p:cNvPr id="10" name="Picture 4" descr="C:\Users\dwp0\AppData\Local\Temp\SNAGHTML1955c7f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990600"/>
            <a:ext cx="6007100" cy="594747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7044267" y="2442303"/>
            <a:ext cx="1871133" cy="1062897"/>
          </a:xfrm>
          <a:prstGeom prst="rect">
            <a:avLst/>
          </a:prstGeom>
          <a:solidFill>
            <a:sysClr val="windowText" lastClr="000000"/>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algn="just">
              <a:defRPr/>
            </a:pPr>
            <a:r>
              <a:rPr lang="en-US" sz="1400" kern="0" dirty="0" smtClean="0">
                <a:solidFill>
                  <a:prstClr val="white"/>
                </a:solidFill>
              </a:rPr>
              <a:t>2. CVR peak power shaving converted to capacity cost savings and total cost impact.</a:t>
            </a:r>
            <a:endParaRPr lang="en-US" sz="1400" kern="0" dirty="0">
              <a:solidFill>
                <a:prstClr val="white"/>
              </a:solidFill>
            </a:endParaRPr>
          </a:p>
        </p:txBody>
      </p:sp>
      <p:sp>
        <p:nvSpPr>
          <p:cNvPr id="12" name="Rectangle 11"/>
          <p:cNvSpPr/>
          <p:nvPr/>
        </p:nvSpPr>
        <p:spPr>
          <a:xfrm>
            <a:off x="76200" y="5181600"/>
            <a:ext cx="1676400" cy="609600"/>
          </a:xfrm>
          <a:prstGeom prst="rect">
            <a:avLst/>
          </a:prstGeom>
          <a:solidFill>
            <a:sysClr val="windowText" lastClr="000000"/>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algn="just">
              <a:defRPr/>
            </a:pPr>
            <a:r>
              <a:rPr lang="en-US" sz="1400" kern="0" dirty="0" smtClean="0">
                <a:solidFill>
                  <a:prstClr val="white"/>
                </a:solidFill>
              </a:rPr>
              <a:t>3. Control algorithm comparison.</a:t>
            </a:r>
            <a:endParaRPr lang="en-US" sz="1400" kern="0" dirty="0">
              <a:solidFill>
                <a:prstClr val="white"/>
              </a:solidFill>
            </a:endParaRPr>
          </a:p>
        </p:txBody>
      </p:sp>
      <p:sp>
        <p:nvSpPr>
          <p:cNvPr id="13" name="Rectangle 12"/>
          <p:cNvSpPr/>
          <p:nvPr/>
        </p:nvSpPr>
        <p:spPr>
          <a:xfrm>
            <a:off x="152400" y="838200"/>
            <a:ext cx="2209800" cy="914400"/>
          </a:xfrm>
          <a:prstGeom prst="rect">
            <a:avLst/>
          </a:prstGeom>
          <a:solidFill>
            <a:sysClr val="windowText" lastClr="000000"/>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algn="just">
              <a:defRPr/>
            </a:pPr>
            <a:r>
              <a:rPr lang="en-US" sz="1400" kern="0" dirty="0" smtClean="0">
                <a:solidFill>
                  <a:prstClr val="white"/>
                </a:solidFill>
              </a:rPr>
              <a:t>1. Conservation Voltage Reduction (CVR) control scheme simulated over 3 months.</a:t>
            </a:r>
            <a:endParaRPr lang="en-US" sz="1400" kern="0" dirty="0">
              <a:solidFill>
                <a:prstClr val="white"/>
              </a:solidFill>
            </a:endParaRPr>
          </a:p>
        </p:txBody>
      </p:sp>
    </p:spTree>
    <p:extLst>
      <p:ext uri="{BB962C8B-B14F-4D97-AF65-F5344CB8AC3E}">
        <p14:creationId xmlns:p14="http://schemas.microsoft.com/office/powerpoint/2010/main" val="15975005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dwp0\AppData\Local\Temp\SNAGHTML1941198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609600"/>
            <a:ext cx="7119994" cy="6248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57200" y="838200"/>
            <a:ext cx="2209800" cy="6858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smtClean="0">
                <a:solidFill>
                  <a:prstClr val="white"/>
                </a:solidFill>
              </a:rPr>
              <a:t>1: Comparison of 3 systems over 4 days.</a:t>
            </a:r>
            <a:endParaRPr lang="en-US" dirty="0">
              <a:solidFill>
                <a:prstClr val="white"/>
              </a:solidFill>
            </a:endParaRPr>
          </a:p>
        </p:txBody>
      </p:sp>
      <p:sp>
        <p:nvSpPr>
          <p:cNvPr id="7" name="Rectangle 6"/>
          <p:cNvSpPr/>
          <p:nvPr/>
        </p:nvSpPr>
        <p:spPr>
          <a:xfrm>
            <a:off x="7543800" y="3032242"/>
            <a:ext cx="1371600" cy="9144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smtClean="0">
                <a:solidFill>
                  <a:prstClr val="white"/>
                </a:solidFill>
              </a:rPr>
              <a:t>2: Reverse powerflow predicted.</a:t>
            </a:r>
            <a:endParaRPr lang="en-US" dirty="0">
              <a:solidFill>
                <a:prstClr val="white"/>
              </a:solidFill>
            </a:endParaRPr>
          </a:p>
        </p:txBody>
      </p:sp>
      <p:sp>
        <p:nvSpPr>
          <p:cNvPr id="9" name="Rectangle 8"/>
          <p:cNvSpPr/>
          <p:nvPr/>
        </p:nvSpPr>
        <p:spPr>
          <a:xfrm>
            <a:off x="63500" y="5405124"/>
            <a:ext cx="1524000" cy="675118"/>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smtClean="0">
                <a:solidFill>
                  <a:prstClr val="white"/>
                </a:solidFill>
              </a:rPr>
              <a:t>3: Full climate simulation.</a:t>
            </a:r>
            <a:endParaRPr lang="en-US" dirty="0">
              <a:solidFill>
                <a:prstClr val="white"/>
              </a:solidFill>
            </a:endParaRPr>
          </a:p>
        </p:txBody>
      </p:sp>
      <p:sp>
        <p:nvSpPr>
          <p:cNvPr id="2" name="Title 1"/>
          <p:cNvSpPr>
            <a:spLocks noGrp="1"/>
          </p:cNvSpPr>
          <p:nvPr>
            <p:ph type="title"/>
          </p:nvPr>
        </p:nvSpPr>
        <p:spPr>
          <a:xfrm>
            <a:off x="0" y="0"/>
            <a:ext cx="9144000" cy="457200"/>
          </a:xfrm>
        </p:spPr>
        <p:txBody>
          <a:bodyPr/>
          <a:lstStyle/>
          <a:p>
            <a:pPr algn="l" rtl="0" eaLnBrk="1" latinLnBrk="0" hangingPunct="1"/>
            <a:r>
              <a:rPr lang="en-US" sz="1800" kern="1200" dirty="0" smtClean="0">
                <a:solidFill>
                  <a:srgbClr val="000000"/>
                </a:solidFill>
                <a:effectLst/>
                <a:latin typeface="Calibri"/>
              </a:rPr>
              <a:t>OMF — </a:t>
            </a:r>
            <a:r>
              <a:rPr lang="en-US" sz="1800" b="1" kern="1200" dirty="0" smtClean="0">
                <a:solidFill>
                  <a:srgbClr val="000000"/>
                </a:solidFill>
                <a:effectLst/>
                <a:latin typeface="Calibri"/>
              </a:rPr>
              <a:t>Reporting Output on Solar Simulation</a:t>
            </a:r>
            <a:endParaRPr lang="en-US" dirty="0" smtClean="0">
              <a:effectLst/>
            </a:endParaRPr>
          </a:p>
        </p:txBody>
      </p:sp>
    </p:spTree>
    <p:extLst>
      <p:ext uri="{BB962C8B-B14F-4D97-AF65-F5344CB8AC3E}">
        <p14:creationId xmlns:p14="http://schemas.microsoft.com/office/powerpoint/2010/main" val="673978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dwp0\AppData\Local\Temp\SNAGHTML194203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761999"/>
            <a:ext cx="6781800" cy="614793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858000" y="2190216"/>
            <a:ext cx="2209800" cy="93398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smtClean="0">
                <a:solidFill>
                  <a:prstClr val="white"/>
                </a:solidFill>
              </a:rPr>
              <a:t>1: Overvoltage predicted in rooftop solar configuration.</a:t>
            </a:r>
            <a:endParaRPr lang="en-US" dirty="0">
              <a:solidFill>
                <a:prstClr val="white"/>
              </a:solidFill>
            </a:endParaRPr>
          </a:p>
        </p:txBody>
      </p:sp>
      <p:sp>
        <p:nvSpPr>
          <p:cNvPr id="3" name="Title 2"/>
          <p:cNvSpPr>
            <a:spLocks noGrp="1"/>
          </p:cNvSpPr>
          <p:nvPr>
            <p:ph type="title"/>
          </p:nvPr>
        </p:nvSpPr>
        <p:spPr>
          <a:xfrm>
            <a:off x="0" y="0"/>
            <a:ext cx="9144000" cy="457200"/>
          </a:xfrm>
        </p:spPr>
        <p:txBody>
          <a:bodyPr/>
          <a:lstStyle/>
          <a:p>
            <a:pPr algn="l" rtl="0" eaLnBrk="1" latinLnBrk="0" hangingPunct="1"/>
            <a:r>
              <a:rPr lang="en-US" sz="1800" kern="1200" dirty="0" smtClean="0">
                <a:solidFill>
                  <a:srgbClr val="000000"/>
                </a:solidFill>
                <a:effectLst/>
                <a:latin typeface="Calibri"/>
              </a:rPr>
              <a:t>OMF — </a:t>
            </a:r>
            <a:r>
              <a:rPr lang="en-US" sz="1800" b="1" kern="1200" dirty="0" smtClean="0">
                <a:solidFill>
                  <a:srgbClr val="000000"/>
                </a:solidFill>
                <a:effectLst/>
                <a:latin typeface="Calibri"/>
              </a:rPr>
              <a:t>Solar Simulation Continued</a:t>
            </a:r>
            <a:endParaRPr lang="en-US" dirty="0" smtClean="0">
              <a:effectLst/>
            </a:endParaRPr>
          </a:p>
        </p:txBody>
      </p:sp>
    </p:spTree>
    <p:extLst>
      <p:ext uri="{BB962C8B-B14F-4D97-AF65-F5344CB8AC3E}">
        <p14:creationId xmlns:p14="http://schemas.microsoft.com/office/powerpoint/2010/main" val="5690121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warming.ornl.gov/OCCAM/ORNL_45.jpg"/>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01146" y="581596"/>
            <a:ext cx="2711467" cy="13932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www.providencegissolutions.com/Images/Milsoft%20Logo_transparen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80168" y="2971799"/>
            <a:ext cx="2535232" cy="11332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twimg0-a.akamaihd.net/profile_images/1642892620/PNNL_Color_Logo_Horizontal.jp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30929" y="4856604"/>
            <a:ext cx="2965071" cy="16307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ttp://battelleaffiliatedlabs.files.wordpress.com/2010/04/nrel_logo.jpg"/>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5087" y="3043591"/>
            <a:ext cx="2463741" cy="105261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3.bp.blogspot.com/-u7zZyZS3yDQ/TySypR0hadI/AAAAAAAAHf0/VdiqiKsFq9s/s1600/ibm_logo.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9183" y="563008"/>
            <a:ext cx="2469645" cy="130170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www.ecotecenergysydney.com.au/product_images/uploaded_images/ausgrid-logo.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8786" y="152400"/>
            <a:ext cx="2022701" cy="20227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ttp://cdn.umb.edu/images/centers_institutes/ciocs/Battelle_blue150dpi.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7429" y="5293434"/>
            <a:ext cx="2813152" cy="75712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http://ncmir.ucsd.edu/images/doe-logo.png"/>
          <p:cNvPicPr>
            <a:picLocks noChangeAspect="1" noChangeArrowheads="1"/>
          </p:cNvPicPr>
          <p:nvPr/>
        </p:nvPicPr>
        <p:blipFill>
          <a:blip r:embed="rId10" cstate="print">
            <a:extLst>
              <a:ext uri="{BEBA8EAE-BF5A-486C-A8C5-ECC9F3942E4B}">
                <a14:imgProps xmlns:a14="http://schemas.microsoft.com/office/drawing/2010/main">
                  <a14:imgLayer r:embed="rId11">
                    <a14:imgEffect>
                      <a14:backgroundRemoval t="0" b="100000" l="0" r="100000">
                        <a14:foregroundMark x1="19689" y1="11632" x2="19689" y2="11632"/>
                        <a14:foregroundMark x1="51641" y1="21528" x2="50777" y2="36806"/>
                        <a14:foregroundMark x1="37306" y1="35590" x2="62867" y2="35590"/>
                        <a14:foregroundMark x1="49050" y1="18924" x2="45596" y2="18576"/>
                        <a14:foregroundMark x1="87910" y1="80729" x2="87910" y2="80729"/>
                        <a14:foregroundMark x1="31261" y1="95486" x2="31261" y2="95486"/>
                        <a14:backgroundMark x1="7081" y1="2431" x2="7081" y2="2431"/>
                        <a14:backgroundMark x1="83074" y1="5035" x2="83074" y2="5035"/>
                        <a14:backgroundMark x1="95164" y1="82465" x2="95164" y2="82465"/>
                        <a14:backgroundMark x1="2418" y1="96354" x2="2418" y2="96354"/>
                      </a14:backgroundRemoval>
                    </a14:imgEffect>
                  </a14:imgLayer>
                </a14:imgProps>
              </a:ext>
              <a:ext uri="{28A0092B-C50C-407E-A947-70E740481C1C}">
                <a14:useLocalDpi xmlns:a14="http://schemas.microsoft.com/office/drawing/2010/main" val="0"/>
              </a:ext>
            </a:extLst>
          </a:blip>
          <a:srcRect/>
          <a:stretch>
            <a:fillRect/>
          </a:stretch>
        </p:blipFill>
        <p:spPr bwMode="auto">
          <a:xfrm>
            <a:off x="6619084" y="4649021"/>
            <a:ext cx="2057400" cy="204595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8492"/>
            <a:ext cx="2960581" cy="465692"/>
          </a:xfrm>
        </p:spPr>
        <p:txBody>
          <a:bodyPr>
            <a:normAutofit/>
          </a:bodyPr>
          <a:lstStyle/>
          <a:p>
            <a:pPr algn="l"/>
            <a:r>
              <a:rPr lang="en-US" sz="1800" dirty="0" smtClean="0"/>
              <a:t>Grid</a:t>
            </a:r>
            <a:r>
              <a:rPr lang="en-US" sz="1800" baseline="0" dirty="0" smtClean="0"/>
              <a:t> Analytics Association</a:t>
            </a:r>
            <a:endParaRPr lang="en-US" sz="1800" dirty="0"/>
          </a:p>
        </p:txBody>
      </p:sp>
      <p:pic>
        <p:nvPicPr>
          <p:cNvPr id="3" name="Picture 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01146" y="2746994"/>
            <a:ext cx="2610398" cy="1370459"/>
          </a:xfrm>
          <a:prstGeom prst="rect">
            <a:avLst/>
          </a:prstGeom>
        </p:spPr>
      </p:pic>
    </p:spTree>
    <p:extLst>
      <p:ext uri="{BB962C8B-B14F-4D97-AF65-F5344CB8AC3E}">
        <p14:creationId xmlns:p14="http://schemas.microsoft.com/office/powerpoint/2010/main" val="12781354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wrap="square" rtlCol="0">
        <a:spAutoFit/>
      </a:bodyPr>
      <a:lstStyle>
        <a:defPPr>
          <a:defRPr dirty="0" smtClean="0">
            <a:solidFill>
              <a:prstClr val="black"/>
            </a:solidFill>
          </a:defRPr>
        </a:defPPr>
      </a:lstStyle>
    </a:txDef>
  </a:objectDefaults>
  <a:extraClrSchemeLst/>
</a:theme>
</file>

<file path=ppt/theme/theme2.xml><?xml version="1.0" encoding="utf-8"?>
<a:theme xmlns:a="http://schemas.openxmlformats.org/drawingml/2006/main" name="3_Office Theme">
  <a:themeElements>
    <a:clrScheme name="Custom 1">
      <a:dk1>
        <a:srgbClr val="FFFFFF"/>
      </a:dk1>
      <a:lt1>
        <a:sysClr val="window" lastClr="FFFFFF"/>
      </a:lt1>
      <a:dk2>
        <a:srgbClr val="1F497D"/>
      </a:dk2>
      <a:lt2>
        <a:srgbClr val="EEECE1"/>
      </a:lt2>
      <a:accent1>
        <a:srgbClr val="06336D"/>
      </a:accent1>
      <a:accent2>
        <a:srgbClr val="F47C18"/>
      </a:accent2>
      <a:accent3>
        <a:srgbClr val="98989D"/>
      </a:accent3>
      <a:accent4>
        <a:srgbClr val="107B41"/>
      </a:accent4>
      <a:accent5>
        <a:srgbClr val="4BACC6"/>
      </a:accent5>
      <a:accent6>
        <a:srgbClr val="F79646"/>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8_Office Theme">
  <a:themeElements>
    <a:clrScheme name="Custom 1">
      <a:dk1>
        <a:srgbClr val="FFFFFF"/>
      </a:dk1>
      <a:lt1>
        <a:sysClr val="window" lastClr="FFFFFF"/>
      </a:lt1>
      <a:dk2>
        <a:srgbClr val="1F497D"/>
      </a:dk2>
      <a:lt2>
        <a:srgbClr val="EEECE1"/>
      </a:lt2>
      <a:accent1>
        <a:srgbClr val="06336D"/>
      </a:accent1>
      <a:accent2>
        <a:srgbClr val="F47C18"/>
      </a:accent2>
      <a:accent3>
        <a:srgbClr val="98989D"/>
      </a:accent3>
      <a:accent4>
        <a:srgbClr val="107B41"/>
      </a:accent4>
      <a:accent5>
        <a:srgbClr val="4BACC6"/>
      </a:accent5>
      <a:accent6>
        <a:srgbClr val="F79646"/>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467</TotalTime>
  <Words>831</Words>
  <Application>Microsoft Macintosh PowerPoint</Application>
  <PresentationFormat>On-screen Show (4:3)</PresentationFormat>
  <Paragraphs>64</Paragraphs>
  <Slides>14</Slides>
  <Notes>7</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14</vt:i4>
      </vt:variant>
    </vt:vector>
  </HeadingPairs>
  <TitlesOfParts>
    <vt:vector size="23" baseType="lpstr">
      <vt:lpstr>Arial Narrow</vt:lpstr>
      <vt:lpstr>Calibri</vt:lpstr>
      <vt:lpstr>Helvetica</vt:lpstr>
      <vt:lpstr>ＭＳ Ｐゴシック</vt:lpstr>
      <vt:lpstr>Arial</vt:lpstr>
      <vt:lpstr>Office Theme</vt:lpstr>
      <vt:lpstr>3_Office Theme</vt:lpstr>
      <vt:lpstr>8_Office Theme</vt:lpstr>
      <vt:lpstr>2_Office Theme</vt:lpstr>
      <vt:lpstr>Open Modeling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OMF — CVR Peak Demand Reduction</vt:lpstr>
      <vt:lpstr>OMF — Reporting Output on Solar Simulation</vt:lpstr>
      <vt:lpstr>OMF — Solar Simulation Continued</vt:lpstr>
      <vt:lpstr>Grid Analytics Association</vt:lpstr>
    </vt:vector>
  </TitlesOfParts>
  <Company>NRECA</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Pinney</dc:creator>
  <cp:lastModifiedBy>david@pinney.org</cp:lastModifiedBy>
  <cp:revision>110</cp:revision>
  <dcterms:created xsi:type="dcterms:W3CDTF">2013-11-05T18:26:10Z</dcterms:created>
  <dcterms:modified xsi:type="dcterms:W3CDTF">2017-06-21T15:13:40Z</dcterms:modified>
</cp:coreProperties>
</file>