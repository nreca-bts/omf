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/>
    <p:restoredTop sz="94666"/>
  </p:normalViewPr>
  <p:slideViewPr>
    <p:cSldViewPr snapToGrid="0" snapToObjects="1" showGuides="1">
      <p:cViewPr varScale="1">
        <p:scale>
          <a:sx n="109" d="100"/>
          <a:sy n="109" d="100"/>
        </p:scale>
        <p:origin x="216" y="6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2A87B-647C-9146-9DEA-C680ECFCE8F2}" type="datetimeFigureOut">
              <a:rPr lang="en-US" smtClean="0"/>
              <a:t>8/6/19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7694F-FB38-3D44-8BA0-1D86DFE2E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1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893AEF-56BD-4671-AB2F-3428C6CC90BD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353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7" name="Picture 1027" descr="NRECA_short_4-c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2588" y="5856287"/>
              <a:ext cx="2091647" cy="849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572540"/>
            <a:ext cx="10363200" cy="105262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859079"/>
            <a:ext cx="8534400" cy="779721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300"/>
              </a:spcAft>
              <a:defRPr/>
            </a:lvl1pPr>
            <a:lvl2pPr>
              <a:spcBef>
                <a:spcPts val="600"/>
              </a:spcBef>
              <a:spcAft>
                <a:spcPts val="300"/>
              </a:spcAft>
              <a:defRPr/>
            </a:lvl2pPr>
            <a:lvl3pPr>
              <a:spcBef>
                <a:spcPts val="600"/>
              </a:spcBef>
              <a:spcAft>
                <a:spcPts val="300"/>
              </a:spcAft>
              <a:defRPr/>
            </a:lvl3pPr>
            <a:lvl4pPr>
              <a:spcBef>
                <a:spcPts val="600"/>
              </a:spcBef>
              <a:spcAft>
                <a:spcPts val="300"/>
              </a:spcAft>
              <a:defRPr/>
            </a:lvl4pPr>
            <a:lvl5pPr>
              <a:spcBef>
                <a:spcPts val="6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E5C6-0183-4426-BF6C-4D3ADAE14A19}" type="datetime1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8/6/19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5206-DFC6-4F6B-8639-1DE8D3B588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51" y="4406901"/>
            <a:ext cx="10857933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51" y="2906713"/>
            <a:ext cx="10857933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DF7D1-38F5-48CF-A4C2-089A1F6B4A40}" type="datetime1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8/6/19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5206-DFC6-4F6B-8639-1DE8D3B588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51" y="1583473"/>
            <a:ext cx="5577840" cy="44958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6448" y="1561170"/>
            <a:ext cx="5577840" cy="44958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F300-989F-43FD-AE5C-A44E48EE63AF}" type="datetime1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8/6/19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5206-DFC6-4F6B-8639-1DE8D3B588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50" y="88752"/>
            <a:ext cx="11425937" cy="9371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51" y="1464450"/>
            <a:ext cx="55778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351" y="2104212"/>
            <a:ext cx="5577840" cy="3951288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7009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700920" cy="3951288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05068-364C-4898-88F6-1E7FF83FDDCD}" type="datetime1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8/6/19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5206-DFC6-4F6B-8639-1DE8D3B588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C4E8-2596-41DC-85A0-C9D37CC3406A}" type="datetime1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8/6/19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5206-DFC6-4F6B-8639-1DE8D3B588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5032-FCF4-4717-8754-097D8A42DE0C}" type="datetime1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8/6/19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5206-DFC6-4F6B-8639-1DE8D3B588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7E1EE-2112-4123-BC16-77D149439738}" type="datetime1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8/6/19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5206-DFC6-4F6B-8639-1DE8D3B588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0E13-87DD-4157-B720-BD58FEBAC1C8}" type="datetime1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8/6/19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5206-DFC6-4F6B-8639-1DE8D3B588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5CF7-83EB-478E-BA8C-B305F2295619}" type="datetime1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8/6/19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5206-DFC6-4F6B-8639-1DE8D3B588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10600" y="304800"/>
            <a:ext cx="26670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7797800" cy="5791200"/>
          </a:xfrm>
        </p:spPr>
        <p:txBody>
          <a:bodyPr vert="eaVert"/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F41D-A868-4F44-B9AC-0AFDECD0B00A}" type="datetime1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8/6/19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5206-DFC6-4F6B-8639-1DE8D3B588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46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2057400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5994400" y="2057400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19626-116A-4DBA-A2F6-8274AB0371A5}" type="datetime1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8/6/19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5206-DFC6-4F6B-8639-1DE8D3B588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8" descr="Top Bar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4117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51" y="204441"/>
            <a:ext cx="11425937" cy="788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51" y="1472604"/>
            <a:ext cx="11425937" cy="459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468351" y="635471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FFDBBE-3CAD-4BB0-A64C-FD869695AF40}" type="datetime1">
              <a:rPr lang="en-US" b="1" baseline="-25000" smtClean="0">
                <a:solidFill>
                  <a:srgbClr val="000000">
                    <a:tint val="75000"/>
                  </a:srgbClr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8/6/19</a:t>
            </a:fld>
            <a:endParaRPr lang="en-US" b="1" baseline="-25000">
              <a:solidFill>
                <a:srgbClr val="000000">
                  <a:tint val="75000"/>
                </a:srgbClr>
              </a:solidFill>
              <a:latin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9658" y="635471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 baseline="-25000">
              <a:solidFill>
                <a:srgbClr val="000000">
                  <a:tint val="75000"/>
                </a:srgbClr>
              </a:solidFill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51088" y="635471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875206-DFC6-4F6B-8639-1DE8D3B58881}" type="slidenum">
              <a:rPr lang="en-US" b="1" baseline="-25000" smtClean="0">
                <a:solidFill>
                  <a:srgbClr val="000000">
                    <a:tint val="75000"/>
                  </a:srgbClr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b="1" baseline="-25000">
              <a:solidFill>
                <a:srgbClr val="000000">
                  <a:tint val="75000"/>
                </a:srgb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32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-BoldMT" pitchFamily="-60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-BoldMT" pitchFamily="-60" charset="0"/>
          <a:ea typeface="ヒラギノ角ゴ Pro W3" charset="-128"/>
          <a:cs typeface="ヒラギノ角ゴ Pro W3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-BoldMT" pitchFamily="-60" charset="0"/>
          <a:ea typeface="ヒラギノ角ゴ Pro W3" charset="-128"/>
          <a:cs typeface="ヒラギノ角ゴ Pro W3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-BoldMT" pitchFamily="-60" charset="0"/>
          <a:ea typeface="ヒラギノ角ゴ Pro W3" charset="-128"/>
          <a:cs typeface="ヒラギノ角ゴ Pro W3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-BoldMT" pitchFamily="-60" charset="0"/>
          <a:ea typeface="ヒラギノ角ゴ Pro W3" charset="-128"/>
          <a:cs typeface="ヒラギノ角ゴ Pro W3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Lucida Grande" charset="0"/>
          <a:ea typeface="ヒラギノ角ゴ Pro W3" charset="-128"/>
          <a:cs typeface="ヒラギノ角ゴ Pro W3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Lucida Grande" charset="0"/>
          <a:ea typeface="ヒラギノ角ゴ Pro W3" charset="-128"/>
          <a:cs typeface="ヒラギノ角ゴ Pro W3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Lucida Grande" charset="0"/>
          <a:ea typeface="ヒラギノ角ゴ Pro W3" charset="-128"/>
          <a:cs typeface="ヒラギノ角ゴ Pro W3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Lucida Grande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1F673A"/>
        </a:buClr>
        <a:buChar char="•"/>
        <a:defRPr sz="2400">
          <a:solidFill>
            <a:schemeClr val="tx1"/>
          </a:solidFill>
          <a:latin typeface="Arial" pitchFamily="-60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1F673A"/>
        </a:buClr>
        <a:buChar char="–"/>
        <a:defRPr sz="2400">
          <a:solidFill>
            <a:schemeClr val="tx1"/>
          </a:solidFill>
          <a:latin typeface="Arial" pitchFamily="-60" charset="0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1F673A"/>
        </a:buClr>
        <a:buChar char="•"/>
        <a:defRPr sz="2400">
          <a:solidFill>
            <a:schemeClr val="tx1"/>
          </a:solidFill>
          <a:latin typeface="Arial" pitchFamily="-60" charset="0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1F673A"/>
        </a:buClr>
        <a:buChar char="–"/>
        <a:defRPr sz="2400">
          <a:solidFill>
            <a:schemeClr val="tx1"/>
          </a:solidFill>
          <a:latin typeface="Arial" pitchFamily="-60" charset="0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1F673A"/>
        </a:buClr>
        <a:buChar char="»"/>
        <a:defRPr sz="2400">
          <a:solidFill>
            <a:schemeClr val="tx1"/>
          </a:solidFill>
          <a:latin typeface="Arial" pitchFamily="-60" charset="0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1F673A"/>
        </a:buClr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1F673A"/>
        </a:buClr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1F673A"/>
        </a:buClr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1F673A"/>
        </a:buClr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668000" cy="533400"/>
          </a:xfrm>
        </p:spPr>
        <p:txBody>
          <a:bodyPr/>
          <a:lstStyle/>
          <a:p>
            <a:r>
              <a:rPr lang="en-US" sz="3200" dirty="0"/>
              <a:t>Open Modeling Framework </a:t>
            </a:r>
            <a:r>
              <a:rPr lang="mr-IN" sz="3200" dirty="0"/>
              <a:t>–</a:t>
            </a:r>
            <a:r>
              <a:rPr lang="en-US" sz="3200" dirty="0"/>
              <a:t> </a:t>
            </a:r>
            <a:r>
              <a:rPr lang="en-US" sz="3200" u="sng" dirty="0"/>
              <a:t>https://</a:t>
            </a:r>
            <a:r>
              <a:rPr lang="en-US" sz="3200" u="sng"/>
              <a:t>www.omf.coop</a:t>
            </a:r>
            <a:endParaRPr lang="en-US" sz="3200" u="sn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3521" y="1304411"/>
            <a:ext cx="4223217" cy="528024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 dirty="0"/>
              <a:t>Free and open source electric utility modeling software</a:t>
            </a:r>
          </a:p>
          <a:p>
            <a:pPr>
              <a:lnSpc>
                <a:spcPct val="120000"/>
              </a:lnSpc>
            </a:pPr>
            <a:r>
              <a:rPr lang="en-US" sz="1500" dirty="0"/>
              <a:t>Built by the co-ops and the US Department of Energy (OE, EERE, ARPA-E)</a:t>
            </a:r>
          </a:p>
          <a:p>
            <a:pPr>
              <a:lnSpc>
                <a:spcPct val="120000"/>
              </a:lnSpc>
            </a:pPr>
            <a:r>
              <a:rPr lang="en-US" sz="1500" dirty="0"/>
              <a:t>Offers models to determine:</a:t>
            </a:r>
          </a:p>
          <a:p>
            <a:pPr lvl="1">
              <a:lnSpc>
                <a:spcPct val="120000"/>
              </a:lnSpc>
            </a:pPr>
            <a:r>
              <a:rPr lang="en-US" sz="1500" dirty="0"/>
              <a:t>Benefits of energy storage for arbitrage, peak demand reduction and asset upgrade deferral</a:t>
            </a:r>
          </a:p>
          <a:p>
            <a:pPr lvl="1">
              <a:lnSpc>
                <a:spcPct val="120000"/>
              </a:lnSpc>
            </a:pPr>
            <a:r>
              <a:rPr lang="en-US" sz="1500" dirty="0"/>
              <a:t>Cost and financing options for utility-scale solar</a:t>
            </a:r>
          </a:p>
          <a:p>
            <a:pPr lvl="1">
              <a:lnSpc>
                <a:spcPct val="120000"/>
              </a:lnSpc>
            </a:pPr>
            <a:r>
              <a:rPr lang="en-US" sz="1500" dirty="0" err="1"/>
              <a:t>Cashflow</a:t>
            </a:r>
            <a:r>
              <a:rPr lang="en-US" sz="1500" dirty="0"/>
              <a:t> and engineering impacts of distributed generation</a:t>
            </a:r>
          </a:p>
          <a:p>
            <a:pPr lvl="1">
              <a:lnSpc>
                <a:spcPct val="120000"/>
              </a:lnSpc>
            </a:pPr>
            <a:r>
              <a:rPr lang="en-US" sz="1500" dirty="0"/>
              <a:t>Full distribution dynamic powerflow simulation (for the ambitious)</a:t>
            </a:r>
          </a:p>
          <a:p>
            <a:pPr>
              <a:lnSpc>
                <a:spcPct val="120000"/>
              </a:lnSpc>
            </a:pPr>
            <a:r>
              <a:rPr lang="en-US" sz="1500" dirty="0"/>
              <a:t>Users from 176 organizations (utilities, vendors, universities) as of June 2017.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4250357" y="1491061"/>
            <a:ext cx="7941643" cy="5093590"/>
            <a:chOff x="1541552" y="985570"/>
            <a:chExt cx="9047593" cy="5802921"/>
          </a:xfrm>
        </p:grpSpPr>
        <p:pic>
          <p:nvPicPr>
            <p:cNvPr id="14" name="pasted-image.png"/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87013" y="993052"/>
              <a:ext cx="2854641" cy="293724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5" name="pasted-image.png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08027" y="985570"/>
              <a:ext cx="2869184" cy="2952205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6" name="pasted-image.png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43582" y="985570"/>
              <a:ext cx="2945563" cy="2952205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7" name="pasted-image.png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41552" y="3836286"/>
              <a:ext cx="2945563" cy="2952205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8" name="pasted-image.png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69837" y="3836286"/>
              <a:ext cx="2945563" cy="2952205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9" name="pasted-image.png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81771" y="3874562"/>
              <a:ext cx="2869184" cy="2875653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015367669"/>
      </p:ext>
    </p:extLst>
  </p:cSld>
  <p:clrMapOvr>
    <a:masterClrMapping/>
  </p:clrMapOvr>
</p:sld>
</file>

<file path=ppt/theme/theme1.xml><?xml version="1.0" encoding="utf-8"?>
<a:theme xmlns:a="http://schemas.openxmlformats.org/drawingml/2006/main" name="1_NRECA Template 2012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Lucida Grande"/>
        <a:ea typeface="ヒラギノ角ゴ Pro W3"/>
        <a:cs typeface="ヒラギノ角ゴ Pro W3"/>
      </a:majorFont>
      <a:minorFont>
        <a:latin typeface="Lucida Grande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Grande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Grande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RECA Branded PowerPoint Template Wide Screen Format.potx" id="{6BA88360-96CD-4439-90B8-212F7F242144}" vid="{766AAB53-8D43-4C09-BCD5-6584E9FFC7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96</Words>
  <Application>Microsoft Macintosh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Arial-BoldMT</vt:lpstr>
      <vt:lpstr>Calibri</vt:lpstr>
      <vt:lpstr>Lucida Grande</vt:lpstr>
      <vt:lpstr>Times New Roman</vt:lpstr>
      <vt:lpstr>1_NRECA Template 2012</vt:lpstr>
      <vt:lpstr>Open Modeling Framework – https://www.omf.coop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Modeling Framework – https://www.omf.coop</dc:title>
  <dc:creator>david@pinney.org</dc:creator>
  <cp:lastModifiedBy>Pinney, David W.</cp:lastModifiedBy>
  <cp:revision>10</cp:revision>
  <dcterms:created xsi:type="dcterms:W3CDTF">2017-05-26T15:09:31Z</dcterms:created>
  <dcterms:modified xsi:type="dcterms:W3CDTF">2019-08-06T20:17:09Z</dcterms:modified>
</cp:coreProperties>
</file>